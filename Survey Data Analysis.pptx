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223" autoAdjust="0"/>
    <p:restoredTop sz="94660"/>
  </p:normalViewPr>
  <p:slideViewPr>
    <p:cSldViewPr snapToGrid="0">
      <p:cViewPr varScale="1">
        <p:scale>
          <a:sx n="99" d="100"/>
          <a:sy n="99" d="100"/>
        </p:scale>
        <p:origin x="48" y="8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88"/>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89"/>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0"/>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1"/>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0,'6'0,"-4"6,-2 2</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2"/>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3"/>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4"/>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5"/>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6"/>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1 0</inkml:trace>
</inkml:ink>
</file>

<file path=ppt/slideLayouts/_rels/slideLayout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13873" y="1168401"/>
            <a:ext cx="10964254" cy="2387600"/>
          </a:xfrm>
          <a:solidFill>
            <a:schemeClr val="bg2"/>
          </a:solidFill>
        </p:spPr>
        <p:txBody>
          <a:bodyPr anchor="b">
            <a:normAutofit/>
          </a:bodyPr>
          <a:lstStyle>
            <a:lvl1pPr algn="ctr">
              <a:defRPr sz="4800" b="0" i="0">
                <a:solidFill>
                  <a:srgbClr val="525252"/>
                </a:solidFill>
                <a:latin typeface="IBM Plex Sans SemiBold" panose="020B0503050203000203" pitchFamily="34" charset="0"/>
                <a:ea typeface="IBM Plex Sans SemiBold" panose="020B0503050203000203" pitchFamily="34" charset="0"/>
                <a:cs typeface="IBM Plex Sans SemiBold" panose="020B0503050203000203"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8273" y="3731247"/>
            <a:ext cx="9135454" cy="1655762"/>
          </a:xfrm>
        </p:spPr>
        <p:txBody>
          <a:bodyPr>
            <a:normAutofit/>
          </a:bodyPr>
          <a:lstStyle>
            <a:lvl1pPr marL="0" indent="0" algn="ctr">
              <a:buNone/>
              <a:defRPr sz="2400" b="0" i="0">
                <a:solidFill>
                  <a:srgbClr val="525252"/>
                </a:solidFill>
                <a:latin typeface="IBM Plex Sans" panose="020B050305020300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cxnSp>
        <p:nvCxnSpPr>
          <p:cNvPr id="8" name="Straight Connector 7"/>
          <p:cNvCxnSpPr/>
          <p:nvPr/>
        </p:nvCxnSpPr>
        <p:spPr>
          <a:xfrm>
            <a:off x="2880360" y="3649111"/>
            <a:ext cx="6431280" cy="0"/>
          </a:xfrm>
          <a:prstGeom prst="line">
            <a:avLst/>
          </a:prstGeom>
          <a:ln>
            <a:solidFill>
              <a:srgbClr val="6C4DEA"/>
            </a:solidFill>
          </a:ln>
        </p:spPr>
        <p:style>
          <a:lnRef idx="1">
            <a:schemeClr val="accent1"/>
          </a:lnRef>
          <a:fillRef idx="0">
            <a:schemeClr val="accent1"/>
          </a:fillRef>
          <a:effectRef idx="0">
            <a:schemeClr val="accent1"/>
          </a:effectRef>
          <a:fontRef idx="minor">
            <a:schemeClr val="tx1"/>
          </a:fontRef>
        </p:style>
      </p:cxnSp>
      <p:sp>
        <p:nvSpPr>
          <p:cNvPr id="9" name="Rectangle 8"/>
          <p:cNvSpPr>
            <a:spLocks noChangeArrowheads="1"/>
          </p:cNvSpPr>
          <p:nvPr/>
        </p:nvSpPr>
        <p:spPr bwMode="black">
          <a:xfrm>
            <a:off x="4093580" y="5537419"/>
            <a:ext cx="4004840" cy="304359"/>
          </a:xfrm>
          <a:prstGeom prst="rect">
            <a:avLst/>
          </a:prstGeom>
          <a:noFill/>
          <a:ln w="9525">
            <a:noFill/>
            <a:miter lim="800000"/>
            <a:headEnd/>
            <a:tailEnd/>
          </a:ln>
        </p:spPr>
        <p:txBody>
          <a:bodyPr lIns="92075" tIns="46038" rIns="92075" bIns="46038"/>
          <a:lstStyle>
            <a:lvl1pPr eaLnBrk="0" hangingPunct="0">
              <a:defRPr b="1">
                <a:solidFill>
                  <a:schemeClr val="tx1"/>
                </a:solidFill>
                <a:latin typeface="Arial" panose="020B0604020202020204" pitchFamily="34" charset="0"/>
                <a:cs typeface="Arial" panose="020B0604020202020204" pitchFamily="34" charset="0"/>
              </a:defRPr>
            </a:lvl1pPr>
            <a:lvl2pPr marL="742950" indent="-285750" eaLnBrk="0" hangingPunct="0">
              <a:defRPr b="1">
                <a:solidFill>
                  <a:schemeClr val="tx1"/>
                </a:solidFill>
                <a:latin typeface="Arial" panose="020B0604020202020204" pitchFamily="34" charset="0"/>
                <a:cs typeface="Arial" panose="020B0604020202020204" pitchFamily="34" charset="0"/>
              </a:defRPr>
            </a:lvl2pPr>
            <a:lvl3pPr marL="1143000" indent="-228600" eaLnBrk="0" hangingPunct="0">
              <a:defRPr b="1">
                <a:solidFill>
                  <a:schemeClr val="tx1"/>
                </a:solidFill>
                <a:latin typeface="Arial" panose="020B0604020202020204" pitchFamily="34" charset="0"/>
                <a:cs typeface="Arial" panose="020B0604020202020204" pitchFamily="34" charset="0"/>
              </a:defRPr>
            </a:lvl3pPr>
            <a:lvl4pPr marL="1600200" indent="-228600" eaLnBrk="0" hangingPunct="0">
              <a:defRPr b="1">
                <a:solidFill>
                  <a:schemeClr val="tx1"/>
                </a:solidFill>
                <a:latin typeface="Arial" panose="020B0604020202020204" pitchFamily="34" charset="0"/>
                <a:cs typeface="Arial" panose="020B0604020202020204" pitchFamily="34" charset="0"/>
              </a:defRPr>
            </a:lvl4pPr>
            <a:lvl5pPr marL="2057400" indent="-228600" eaLnBrk="0" hangingPunct="0">
              <a:defRPr b="1">
                <a:solidFill>
                  <a:schemeClr val="tx1"/>
                </a:solidFill>
                <a:latin typeface="Arial" panose="020B0604020202020204" pitchFamily="34" charset="0"/>
                <a:cs typeface="Arial" panose="020B0604020202020204" pitchFamily="34" charset="0"/>
              </a:defRPr>
            </a:lvl5pPr>
            <a:lvl6pPr marL="2514600" indent="-228600" algn="r" eaLnBrk="0" fontAlgn="base" hangingPunct="0">
              <a:spcBef>
                <a:spcPct val="0"/>
              </a:spcBef>
              <a:spcAft>
                <a:spcPct val="0"/>
              </a:spcAft>
              <a:defRPr b="1">
                <a:solidFill>
                  <a:schemeClr val="tx1"/>
                </a:solidFill>
                <a:latin typeface="Arial" panose="020B0604020202020204" pitchFamily="34" charset="0"/>
                <a:cs typeface="Arial" panose="020B0604020202020204" pitchFamily="34" charset="0"/>
              </a:defRPr>
            </a:lvl6pPr>
            <a:lvl7pPr marL="2971800" indent="-228600" algn="r" eaLnBrk="0" fontAlgn="base" hangingPunct="0">
              <a:spcBef>
                <a:spcPct val="0"/>
              </a:spcBef>
              <a:spcAft>
                <a:spcPct val="0"/>
              </a:spcAft>
              <a:defRPr b="1">
                <a:solidFill>
                  <a:schemeClr val="tx1"/>
                </a:solidFill>
                <a:latin typeface="Arial" panose="020B0604020202020204" pitchFamily="34" charset="0"/>
                <a:cs typeface="Arial" panose="020B0604020202020204" pitchFamily="34" charset="0"/>
              </a:defRPr>
            </a:lvl7pPr>
            <a:lvl8pPr marL="3429000" indent="-228600" algn="r" eaLnBrk="0" fontAlgn="base" hangingPunct="0">
              <a:spcBef>
                <a:spcPct val="0"/>
              </a:spcBef>
              <a:spcAft>
                <a:spcPct val="0"/>
              </a:spcAft>
              <a:defRPr b="1">
                <a:solidFill>
                  <a:schemeClr val="tx1"/>
                </a:solidFill>
                <a:latin typeface="Arial" panose="020B0604020202020204" pitchFamily="34" charset="0"/>
                <a:cs typeface="Arial" panose="020B0604020202020204" pitchFamily="34" charset="0"/>
              </a:defRPr>
            </a:lvl8pPr>
            <a:lvl9pPr marL="3886200" indent="-228600" algn="r" eaLnBrk="0" fontAlgn="base" hangingPunct="0">
              <a:spcBef>
                <a:spcPct val="0"/>
              </a:spcBef>
              <a:spcAft>
                <a:spcPct val="0"/>
              </a:spcAft>
              <a:defRPr b="1">
                <a:solidFill>
                  <a:schemeClr val="tx1"/>
                </a:solidFill>
                <a:latin typeface="Arial" panose="020B0604020202020204" pitchFamily="34" charset="0"/>
                <a:cs typeface="Arial" panose="020B0604020202020204" pitchFamily="34" charset="0"/>
              </a:defRPr>
            </a:lvl9pPr>
          </a:lstStyle>
          <a:p>
            <a:pPr algn="ctr" eaLnBrk="1" hangingPunct="1"/>
            <a:r>
              <a:rPr lang="en-US" sz="1400" b="0" dirty="0">
                <a:solidFill>
                  <a:srgbClr val="000000"/>
                </a:solidFill>
                <a:latin typeface="Helv"/>
              </a:rPr>
              <a:t>© IBM Corporation. All rights reserved.</a:t>
            </a:r>
          </a:p>
        </p:txBody>
      </p:sp>
      <p:grpSp>
        <p:nvGrpSpPr>
          <p:cNvPr id="5" name="Group 4">
            <a:extLst>
              <a:ext uri="{FF2B5EF4-FFF2-40B4-BE49-F238E27FC236}">
                <a16:creationId xmlns:a16="http://schemas.microsoft.com/office/drawing/2014/main" id="{CB5BAB42-A6B6-D2DB-EC91-721CA287B900}"/>
              </a:ext>
            </a:extLst>
          </p:cNvPr>
          <p:cNvGrpSpPr/>
          <p:nvPr userDrawn="1"/>
        </p:nvGrpSpPr>
        <p:grpSpPr>
          <a:xfrm>
            <a:off x="11094856" y="6244940"/>
            <a:ext cx="1098532" cy="613059"/>
            <a:chOff x="8965342" y="4231217"/>
            <a:chExt cx="1608171" cy="897474"/>
          </a:xfrm>
        </p:grpSpPr>
        <p:pic>
          <p:nvPicPr>
            <p:cNvPr id="6" name="Graphic 5">
              <a:extLst>
                <a:ext uri="{FF2B5EF4-FFF2-40B4-BE49-F238E27FC236}">
                  <a16:creationId xmlns:a16="http://schemas.microsoft.com/office/drawing/2014/main" id="{D9DAF80D-4D83-4EA4-3B9A-B4DEAA21CF4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321121" y="4418033"/>
              <a:ext cx="897474" cy="355817"/>
            </a:xfrm>
            <a:prstGeom prst="rect">
              <a:avLst/>
            </a:prstGeom>
          </p:spPr>
        </p:pic>
        <p:pic>
          <p:nvPicPr>
            <p:cNvPr id="11" name="Graphic 10" hidden="1">
              <a:extLst>
                <a:ext uri="{FF2B5EF4-FFF2-40B4-BE49-F238E27FC236}">
                  <a16:creationId xmlns:a16="http://schemas.microsoft.com/office/drawing/2014/main" id="{AA1B3EED-0A38-9B4D-C031-B7CFB1F16CD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321121" y="4772874"/>
              <a:ext cx="897474" cy="355817"/>
            </a:xfrm>
            <a:prstGeom prst="rect">
              <a:avLst/>
            </a:prstGeom>
          </p:spPr>
        </p:pic>
        <p:pic>
          <p:nvPicPr>
            <p:cNvPr id="12" name="Graphic 11" hidden="1">
              <a:extLst>
                <a:ext uri="{FF2B5EF4-FFF2-40B4-BE49-F238E27FC236}">
                  <a16:creationId xmlns:a16="http://schemas.microsoft.com/office/drawing/2014/main" id="{D8BA40FF-052F-CEA2-8570-24062BFE0A7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rot="16200000">
              <a:off x="9946868" y="4502045"/>
              <a:ext cx="897474" cy="355817"/>
            </a:xfrm>
            <a:prstGeom prst="rect">
              <a:avLst/>
            </a:prstGeom>
          </p:spPr>
        </p:pic>
        <p:pic>
          <p:nvPicPr>
            <p:cNvPr id="13" name="Graphic 12" hidden="1">
              <a:extLst>
                <a:ext uri="{FF2B5EF4-FFF2-40B4-BE49-F238E27FC236}">
                  <a16:creationId xmlns:a16="http://schemas.microsoft.com/office/drawing/2014/main" id="{10305589-4F05-9658-71A7-2F6E7BFE952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rot="16200000">
              <a:off x="8694514" y="4502045"/>
              <a:ext cx="897474" cy="355817"/>
            </a:xfrm>
            <a:prstGeom prst="rect">
              <a:avLst/>
            </a:prstGeom>
          </p:spPr>
        </p:pic>
      </p:grpSp>
      <p:pic>
        <p:nvPicPr>
          <p:cNvPr id="14" name="Graphic 13">
            <a:extLst>
              <a:ext uri="{FF2B5EF4-FFF2-40B4-BE49-F238E27FC236}">
                <a16:creationId xmlns:a16="http://schemas.microsoft.com/office/drawing/2014/main" id="{EEFE9B80-1CD0-9614-4D99-C0FA5B74A8B1}"/>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41053" y="6372101"/>
            <a:ext cx="1630680" cy="247650"/>
          </a:xfrm>
          <a:prstGeom prst="rect">
            <a:avLst/>
          </a:prstGeom>
        </p:spPr>
      </p:pic>
    </p:spTree>
    <p:custDataLst>
      <p:tags r:id="rId1"/>
    </p:custDataLst>
    <p:extLst>
      <p:ext uri="{BB962C8B-B14F-4D97-AF65-F5344CB8AC3E}">
        <p14:creationId xmlns:p14="http://schemas.microsoft.com/office/powerpoint/2010/main" val="8131303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525252"/>
                </a:solidFill>
              </a:defRPr>
            </a:lvl1pPr>
          </a:lstStyle>
          <a:p>
            <a:r>
              <a:rPr lang="en-US"/>
              <a:t>Click to edit Master title style</a:t>
            </a:r>
            <a:endParaRPr lang="en-US" dirty="0"/>
          </a:p>
        </p:txBody>
      </p:sp>
      <p:sp>
        <p:nvSpPr>
          <p:cNvPr id="3" name="Content Placeholder 2"/>
          <p:cNvSpPr>
            <a:spLocks noGrp="1"/>
          </p:cNvSpPr>
          <p:nvPr>
            <p:ph idx="1"/>
          </p:nvPr>
        </p:nvSpPr>
        <p:spPr>
          <a:xfrm>
            <a:off x="838200" y="1600199"/>
            <a:ext cx="10744200" cy="4572000"/>
          </a:xfrm>
        </p:spPr>
        <p:txBody>
          <a:bodyPr/>
          <a:lstStyle>
            <a:lvl1pPr>
              <a:defRPr>
                <a:solidFill>
                  <a:srgbClr val="262626"/>
                </a:solidFill>
              </a:defRPr>
            </a:lvl1pPr>
            <a:lvl2pPr>
              <a:defRPr>
                <a:solidFill>
                  <a:srgbClr val="262626"/>
                </a:solidFill>
              </a:defRPr>
            </a:lvl2pPr>
            <a:lvl3pPr>
              <a:defRPr>
                <a:solidFill>
                  <a:srgbClr val="262626"/>
                </a:solidFill>
              </a:defRPr>
            </a:lvl3pPr>
            <a:lvl4pPr>
              <a:defRPr>
                <a:solidFill>
                  <a:srgbClr val="262626"/>
                </a:solidFill>
              </a:defRPr>
            </a:lvl4pPr>
            <a:lvl5pPr>
              <a:defRPr>
                <a:solidFill>
                  <a:srgbClr val="262626"/>
                </a:solidFill>
              </a:defRPr>
            </a:lvl5pPr>
          </a:lstStyle>
          <a:p>
            <a:pPr lvl="0"/>
            <a:r>
              <a:rPr lang="en-US"/>
              <a:t>Click to edit Master text styles</a:t>
            </a:r>
          </a:p>
          <a:p>
            <a:pPr lvl="1"/>
            <a:r>
              <a:rPr lang="en-US"/>
              <a:t>Second level</a:t>
            </a:r>
          </a:p>
          <a:p>
            <a:pPr lvl="2"/>
            <a:r>
              <a:rPr lang="en-US"/>
              <a:t>Third level</a:t>
            </a:r>
          </a:p>
        </p:txBody>
      </p:sp>
      <p:cxnSp>
        <p:nvCxnSpPr>
          <p:cNvPr id="7" name="Straight Connector 6"/>
          <p:cNvCxnSpPr/>
          <p:nvPr/>
        </p:nvCxnSpPr>
        <p:spPr>
          <a:xfrm>
            <a:off x="838200" y="1296645"/>
            <a:ext cx="10515600" cy="368"/>
          </a:xfrm>
          <a:prstGeom prst="line">
            <a:avLst/>
          </a:prstGeom>
          <a:ln>
            <a:solidFill>
              <a:srgbClr val="6C4DEA"/>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9216849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i="0">
                <a:solidFill>
                  <a:srgbClr val="525252"/>
                </a:solidFill>
                <a:latin typeface="IBM Plex Sans SemiBold" panose="020B0503050203000203"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600200"/>
            <a:ext cx="5181600" cy="4572000"/>
          </a:xfrm>
        </p:spPr>
        <p:txBody>
          <a:bodyPr/>
          <a:lstStyle>
            <a:lvl1pPr>
              <a:defRPr>
                <a:solidFill>
                  <a:srgbClr val="262626"/>
                </a:solidFill>
              </a:defRPr>
            </a:lvl1pPr>
            <a:lvl2pPr>
              <a:defRPr>
                <a:solidFill>
                  <a:srgbClr val="262626"/>
                </a:solidFill>
              </a:defRPr>
            </a:lvl2pPr>
            <a:lvl3pPr>
              <a:defRPr>
                <a:solidFill>
                  <a:srgbClr val="262626"/>
                </a:solidFill>
              </a:defRPr>
            </a:lvl3pPr>
            <a:lvl4pPr>
              <a:defRPr>
                <a:solidFill>
                  <a:srgbClr val="525252"/>
                </a:solidFill>
              </a:defRPr>
            </a:lvl4pPr>
            <a:lvl5pPr>
              <a:defRPr>
                <a:solidFill>
                  <a:srgbClr val="525252"/>
                </a:solidFill>
              </a:defRPr>
            </a:lvl5pPr>
          </a:lstStyle>
          <a:p>
            <a:pPr lvl="0"/>
            <a:r>
              <a:rPr lang="en-US"/>
              <a:t>Click to edit Master text styles</a:t>
            </a:r>
          </a:p>
          <a:p>
            <a:pPr lvl="1"/>
            <a:r>
              <a:rPr lang="en-US"/>
              <a:t>Second level</a:t>
            </a:r>
          </a:p>
          <a:p>
            <a:pPr lvl="2"/>
            <a:r>
              <a:rPr lang="en-US"/>
              <a:t>Third level</a:t>
            </a:r>
          </a:p>
        </p:txBody>
      </p:sp>
      <p:sp>
        <p:nvSpPr>
          <p:cNvPr id="4" name="Content Placeholder 3"/>
          <p:cNvSpPr>
            <a:spLocks noGrp="1"/>
          </p:cNvSpPr>
          <p:nvPr>
            <p:ph sz="half" idx="2"/>
          </p:nvPr>
        </p:nvSpPr>
        <p:spPr>
          <a:xfrm>
            <a:off x="6172200" y="1600200"/>
            <a:ext cx="5181600" cy="4572000"/>
          </a:xfrm>
        </p:spPr>
        <p:txBody>
          <a:bodyPr/>
          <a:lstStyle>
            <a:lvl1pPr>
              <a:defRPr>
                <a:solidFill>
                  <a:srgbClr val="262626"/>
                </a:solidFill>
              </a:defRPr>
            </a:lvl1pPr>
            <a:lvl2pPr>
              <a:defRPr>
                <a:solidFill>
                  <a:srgbClr val="262626"/>
                </a:solidFill>
              </a:defRPr>
            </a:lvl2pPr>
            <a:lvl3pPr>
              <a:defRPr>
                <a:solidFill>
                  <a:srgbClr val="262626"/>
                </a:solidFill>
              </a:defRPr>
            </a:lvl3pPr>
            <a:lvl4pPr>
              <a:defRPr>
                <a:solidFill>
                  <a:srgbClr val="525252"/>
                </a:solidFill>
              </a:defRPr>
            </a:lvl4pPr>
            <a:lvl5pPr>
              <a:defRPr>
                <a:solidFill>
                  <a:srgbClr val="525252"/>
                </a:solidFill>
              </a:defRPr>
            </a:lvl5pPr>
          </a:lstStyle>
          <a:p>
            <a:pPr lvl="0"/>
            <a:r>
              <a:rPr lang="en-US"/>
              <a:t>Click to edit Master text styles</a:t>
            </a:r>
          </a:p>
          <a:p>
            <a:pPr lvl="1"/>
            <a:r>
              <a:rPr lang="en-US"/>
              <a:t>Second level</a:t>
            </a:r>
          </a:p>
          <a:p>
            <a:pPr lvl="2"/>
            <a:r>
              <a:rPr lang="en-US"/>
              <a:t>Third level</a:t>
            </a:r>
          </a:p>
        </p:txBody>
      </p:sp>
      <p:cxnSp>
        <p:nvCxnSpPr>
          <p:cNvPr id="8" name="Straight Connector 7"/>
          <p:cNvCxnSpPr/>
          <p:nvPr/>
        </p:nvCxnSpPr>
        <p:spPr>
          <a:xfrm>
            <a:off x="838200" y="1364249"/>
            <a:ext cx="10515600" cy="368"/>
          </a:xfrm>
          <a:prstGeom prst="line">
            <a:avLst/>
          </a:prstGeom>
          <a:ln>
            <a:solidFill>
              <a:srgbClr val="6C4DEA"/>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4016431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19891549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9" name="Title 1"/>
          <p:cNvSpPr>
            <a:spLocks noGrp="1"/>
          </p:cNvSpPr>
          <p:nvPr>
            <p:ph type="ctrTitle"/>
          </p:nvPr>
        </p:nvSpPr>
        <p:spPr>
          <a:xfrm>
            <a:off x="1524000" y="1122363"/>
            <a:ext cx="9144000" cy="2387600"/>
          </a:xfrm>
        </p:spPr>
        <p:txBody>
          <a:bodyPr anchor="b">
            <a:normAutofit/>
          </a:bodyPr>
          <a:lstStyle>
            <a:lvl1pPr algn="ctr">
              <a:defRPr sz="4800" b="1" i="0">
                <a:solidFill>
                  <a:srgbClr val="525252"/>
                </a:solidFill>
                <a:latin typeface="IBM Plex Sans SemiBold" panose="020B0503050203000203" pitchFamily="34" charset="0"/>
                <a:ea typeface="IBM Plex Sans SemiBold" panose="020B0503050203000203" pitchFamily="34" charset="0"/>
                <a:cs typeface="IBM Plex Sans SemiBold" panose="020B0503050203000203" pitchFamily="34" charset="0"/>
              </a:defRPr>
            </a:lvl1pPr>
          </a:lstStyle>
          <a:p>
            <a:r>
              <a:rPr lang="en-US"/>
              <a:t>Click to edit Master title style</a:t>
            </a:r>
          </a:p>
        </p:txBody>
      </p:sp>
    </p:spTree>
    <p:extLst>
      <p:ext uri="{BB962C8B-B14F-4D97-AF65-F5344CB8AC3E}">
        <p14:creationId xmlns:p14="http://schemas.microsoft.com/office/powerpoint/2010/main" val="321905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2_Blank">
    <p:bg>
      <p:bgPr>
        <a:solidFill>
          <a:schemeClr val="bg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7736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13"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theme" Target="../theme/theme1.xml"/><Relationship Id="rId12" Type="http://schemas.openxmlformats.org/officeDocument/2006/relationships/image" Target="../media/image3.svg"/><Relationship Id="rId2" Type="http://schemas.openxmlformats.org/officeDocument/2006/relationships/slideLayout" Target="../slideLayouts/slideLayout2.xml"/><Relationship Id="rId16" Type="http://schemas.openxmlformats.org/officeDocument/2006/relationships/image" Target="../media/image7.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image" Target="../media/image6.png"/><Relationship Id="rId10" Type="http://schemas.microsoft.com/office/2007/relationships/hdphoto" Target="../media/hdphoto1.wdp"/><Relationship Id="rId4" Type="http://schemas.openxmlformats.org/officeDocument/2006/relationships/slideLayout" Target="../slideLayouts/slideLayout4.xml"/><Relationship Id="rId9" Type="http://schemas.openxmlformats.org/officeDocument/2006/relationships/image" Target="../media/image1.png"/><Relationship Id="rId14" Type="http://schemas.openxmlformats.org/officeDocument/2006/relationships/image" Target="../media/image5.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47850"/>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p:txBody>
      </p:sp>
      <p:pic>
        <p:nvPicPr>
          <p:cNvPr id="12" name="Picture 11" descr="Text, logo&#10;&#10;Description automatically generated">
            <a:extLst>
              <a:ext uri="{FF2B5EF4-FFF2-40B4-BE49-F238E27FC236}">
                <a16:creationId xmlns:a16="http://schemas.microsoft.com/office/drawing/2014/main" id="{05161552-D656-B925-AB2F-4CA5F6FE7270}"/>
              </a:ext>
            </a:extLst>
          </p:cNvPr>
          <p:cNvPicPr>
            <a:picLocks noChangeAspect="1"/>
          </p:cNvPicPr>
          <p:nvPr userDrawn="1"/>
        </p:nvPicPr>
        <p:blipFill rotWithShape="1">
          <a:blip r:embed="rId9">
            <a:alphaModFix amt="5000"/>
            <a:extLst>
              <a:ext uri="{BEBA8EAE-BF5A-486C-A8C5-ECC9F3942E4B}">
                <a14:imgProps xmlns:a14="http://schemas.microsoft.com/office/drawing/2010/main">
                  <a14:imgLayer r:embed="rId10">
                    <a14:imgEffect>
                      <a14:saturation sat="155000"/>
                    </a14:imgEffect>
                    <a14:imgEffect>
                      <a14:brightnessContrast contrast="-77000"/>
                    </a14:imgEffect>
                  </a14:imgLayer>
                </a14:imgProps>
              </a:ext>
            </a:extLst>
          </a:blip>
          <a:srcRect l="-1923" r="70315"/>
          <a:stretch/>
        </p:blipFill>
        <p:spPr>
          <a:xfrm>
            <a:off x="3345127" y="1418811"/>
            <a:ext cx="5501746" cy="4826130"/>
          </a:xfrm>
          <a:prstGeom prst="rect">
            <a:avLst/>
          </a:prstGeom>
        </p:spPr>
      </p:pic>
      <p:sp>
        <p:nvSpPr>
          <p:cNvPr id="4" name="Rectangle 3">
            <a:extLst>
              <a:ext uri="{FF2B5EF4-FFF2-40B4-BE49-F238E27FC236}">
                <a16:creationId xmlns:a16="http://schemas.microsoft.com/office/drawing/2014/main" id="{AE377BDD-6725-68B2-639C-E47C9B4601F2}"/>
              </a:ext>
            </a:extLst>
          </p:cNvPr>
          <p:cNvSpPr/>
          <p:nvPr userDrawn="1"/>
        </p:nvSpPr>
        <p:spPr>
          <a:xfrm>
            <a:off x="12625444" y="2728308"/>
            <a:ext cx="1235879" cy="1235878"/>
          </a:xfrm>
          <a:prstGeom prst="rect">
            <a:avLst/>
          </a:prstGeom>
          <a:solidFill>
            <a:srgbClr val="BE95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#BE95FF</a:t>
            </a:r>
          </a:p>
        </p:txBody>
      </p:sp>
      <p:sp>
        <p:nvSpPr>
          <p:cNvPr id="5" name="Rectangle 4">
            <a:extLst>
              <a:ext uri="{FF2B5EF4-FFF2-40B4-BE49-F238E27FC236}">
                <a16:creationId xmlns:a16="http://schemas.microsoft.com/office/drawing/2014/main" id="{18771CE0-19C9-5FCF-1B71-ACF36DEE6664}"/>
              </a:ext>
            </a:extLst>
          </p:cNvPr>
          <p:cNvSpPr/>
          <p:nvPr userDrawn="1"/>
        </p:nvSpPr>
        <p:spPr>
          <a:xfrm>
            <a:off x="18071881" y="2728308"/>
            <a:ext cx="1235879" cy="1235878"/>
          </a:xfrm>
          <a:prstGeom prst="rect">
            <a:avLst/>
          </a:prstGeom>
          <a:solidFill>
            <a:srgbClr val="33B1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#33B1FF</a:t>
            </a:r>
          </a:p>
        </p:txBody>
      </p:sp>
      <p:sp>
        <p:nvSpPr>
          <p:cNvPr id="6" name="Rectangle 5">
            <a:extLst>
              <a:ext uri="{FF2B5EF4-FFF2-40B4-BE49-F238E27FC236}">
                <a16:creationId xmlns:a16="http://schemas.microsoft.com/office/drawing/2014/main" id="{832A3F44-3AAC-9557-E214-F323108F6B65}"/>
              </a:ext>
            </a:extLst>
          </p:cNvPr>
          <p:cNvSpPr/>
          <p:nvPr userDrawn="1"/>
        </p:nvSpPr>
        <p:spPr>
          <a:xfrm>
            <a:off x="14440923" y="2728308"/>
            <a:ext cx="1235879" cy="1235878"/>
          </a:xfrm>
          <a:prstGeom prst="rect">
            <a:avLst/>
          </a:prstGeom>
          <a:solidFill>
            <a:srgbClr val="FF7EB6"/>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#FF7EB6</a:t>
            </a:r>
          </a:p>
        </p:txBody>
      </p:sp>
      <p:sp>
        <p:nvSpPr>
          <p:cNvPr id="9" name="Rectangle 8">
            <a:extLst>
              <a:ext uri="{FF2B5EF4-FFF2-40B4-BE49-F238E27FC236}">
                <a16:creationId xmlns:a16="http://schemas.microsoft.com/office/drawing/2014/main" id="{06EA0613-E945-E437-C733-F9F008F63B76}"/>
              </a:ext>
            </a:extLst>
          </p:cNvPr>
          <p:cNvSpPr/>
          <p:nvPr userDrawn="1"/>
        </p:nvSpPr>
        <p:spPr>
          <a:xfrm>
            <a:off x="16256402" y="2728308"/>
            <a:ext cx="1235879" cy="1235878"/>
          </a:xfrm>
          <a:prstGeom prst="rect">
            <a:avLst/>
          </a:prstGeom>
          <a:solidFill>
            <a:srgbClr val="08BDBA"/>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#08BDBA</a:t>
            </a:r>
          </a:p>
        </p:txBody>
      </p:sp>
      <p:sp>
        <p:nvSpPr>
          <p:cNvPr id="10" name="TextBox 9">
            <a:extLst>
              <a:ext uri="{FF2B5EF4-FFF2-40B4-BE49-F238E27FC236}">
                <a16:creationId xmlns:a16="http://schemas.microsoft.com/office/drawing/2014/main" id="{F0EC5687-C25A-A73E-5192-674F560F89FA}"/>
              </a:ext>
            </a:extLst>
          </p:cNvPr>
          <p:cNvSpPr txBox="1"/>
          <p:nvPr userDrawn="1"/>
        </p:nvSpPr>
        <p:spPr>
          <a:xfrm>
            <a:off x="12602453" y="3912427"/>
            <a:ext cx="1237839" cy="369332"/>
          </a:xfrm>
          <a:prstGeom prst="rect">
            <a:avLst/>
          </a:prstGeom>
          <a:noFill/>
        </p:spPr>
        <p:txBody>
          <a:bodyPr wrap="none" rtlCol="0">
            <a:spAutoFit/>
          </a:bodyPr>
          <a:lstStyle/>
          <a:p>
            <a:r>
              <a:rPr lang="en-US" b="1" i="0" dirty="0">
                <a:solidFill>
                  <a:srgbClr val="FFFFFF"/>
                </a:solidFill>
                <a:effectLst/>
              </a:rPr>
              <a:t>Purple 40</a:t>
            </a:r>
            <a:endParaRPr lang="en-US" b="1" dirty="0">
              <a:solidFill>
                <a:srgbClr val="FFFFFF"/>
              </a:solidFill>
            </a:endParaRPr>
          </a:p>
        </p:txBody>
      </p:sp>
      <p:sp>
        <p:nvSpPr>
          <p:cNvPr id="13" name="TextBox 12">
            <a:extLst>
              <a:ext uri="{FF2B5EF4-FFF2-40B4-BE49-F238E27FC236}">
                <a16:creationId xmlns:a16="http://schemas.microsoft.com/office/drawing/2014/main" id="{C31F4021-33FE-506B-3C0D-688FEF669647}"/>
              </a:ext>
            </a:extLst>
          </p:cNvPr>
          <p:cNvSpPr txBox="1"/>
          <p:nvPr userDrawn="1"/>
        </p:nvSpPr>
        <p:spPr>
          <a:xfrm>
            <a:off x="14334144" y="3912427"/>
            <a:ext cx="1449436" cy="369332"/>
          </a:xfrm>
          <a:prstGeom prst="rect">
            <a:avLst/>
          </a:prstGeom>
          <a:noFill/>
        </p:spPr>
        <p:txBody>
          <a:bodyPr wrap="none" rtlCol="0">
            <a:spAutoFit/>
          </a:bodyPr>
          <a:lstStyle/>
          <a:p>
            <a:r>
              <a:rPr lang="en-US" b="1" dirty="0">
                <a:solidFill>
                  <a:srgbClr val="FFFFFF"/>
                </a:solidFill>
              </a:rPr>
              <a:t>Magenta</a:t>
            </a:r>
            <a:r>
              <a:rPr lang="en-US" b="1" i="0" dirty="0">
                <a:solidFill>
                  <a:srgbClr val="FFFFFF"/>
                </a:solidFill>
                <a:effectLst/>
              </a:rPr>
              <a:t> 40</a:t>
            </a:r>
            <a:endParaRPr lang="en-US" b="1" dirty="0">
              <a:solidFill>
                <a:srgbClr val="FFFFFF"/>
              </a:solidFill>
            </a:endParaRPr>
          </a:p>
        </p:txBody>
      </p:sp>
      <p:sp>
        <p:nvSpPr>
          <p:cNvPr id="14" name="TextBox 13">
            <a:extLst>
              <a:ext uri="{FF2B5EF4-FFF2-40B4-BE49-F238E27FC236}">
                <a16:creationId xmlns:a16="http://schemas.microsoft.com/office/drawing/2014/main" id="{586B112C-C780-5B47-83AA-D580E668C866}"/>
              </a:ext>
            </a:extLst>
          </p:cNvPr>
          <p:cNvSpPr txBox="1"/>
          <p:nvPr userDrawn="1"/>
        </p:nvSpPr>
        <p:spPr>
          <a:xfrm>
            <a:off x="16404771" y="3912427"/>
            <a:ext cx="966355" cy="369332"/>
          </a:xfrm>
          <a:prstGeom prst="rect">
            <a:avLst/>
          </a:prstGeom>
          <a:noFill/>
        </p:spPr>
        <p:txBody>
          <a:bodyPr wrap="none" rtlCol="0">
            <a:spAutoFit/>
          </a:bodyPr>
          <a:lstStyle/>
          <a:p>
            <a:r>
              <a:rPr lang="en-US" b="1" dirty="0">
                <a:solidFill>
                  <a:srgbClr val="FFFFFF"/>
                </a:solidFill>
              </a:rPr>
              <a:t>Teal</a:t>
            </a:r>
            <a:r>
              <a:rPr lang="en-US" b="1" i="0" dirty="0">
                <a:solidFill>
                  <a:srgbClr val="FFFFFF"/>
                </a:solidFill>
                <a:effectLst/>
              </a:rPr>
              <a:t> 40</a:t>
            </a:r>
            <a:endParaRPr lang="en-US" b="1" dirty="0">
              <a:solidFill>
                <a:srgbClr val="FFFFFF"/>
              </a:solidFill>
            </a:endParaRPr>
          </a:p>
        </p:txBody>
      </p:sp>
      <p:sp>
        <p:nvSpPr>
          <p:cNvPr id="15" name="TextBox 14">
            <a:extLst>
              <a:ext uri="{FF2B5EF4-FFF2-40B4-BE49-F238E27FC236}">
                <a16:creationId xmlns:a16="http://schemas.microsoft.com/office/drawing/2014/main" id="{D92FC597-9201-21C6-383D-67750826F14D}"/>
              </a:ext>
            </a:extLst>
          </p:cNvPr>
          <p:cNvSpPr txBox="1"/>
          <p:nvPr userDrawn="1"/>
        </p:nvSpPr>
        <p:spPr>
          <a:xfrm>
            <a:off x="18206642" y="3912427"/>
            <a:ext cx="1055097" cy="369332"/>
          </a:xfrm>
          <a:prstGeom prst="rect">
            <a:avLst/>
          </a:prstGeom>
          <a:noFill/>
        </p:spPr>
        <p:txBody>
          <a:bodyPr wrap="none" rtlCol="0">
            <a:spAutoFit/>
          </a:bodyPr>
          <a:lstStyle/>
          <a:p>
            <a:r>
              <a:rPr lang="en-US" b="1" dirty="0">
                <a:solidFill>
                  <a:srgbClr val="FFFFFF"/>
                </a:solidFill>
              </a:rPr>
              <a:t>Cyan</a:t>
            </a:r>
            <a:r>
              <a:rPr lang="en-US" b="1" i="0" dirty="0">
                <a:solidFill>
                  <a:srgbClr val="FFFFFF"/>
                </a:solidFill>
                <a:effectLst/>
              </a:rPr>
              <a:t> 40</a:t>
            </a:r>
            <a:endParaRPr lang="en-US" b="1" dirty="0">
              <a:solidFill>
                <a:srgbClr val="FFFFFF"/>
              </a:solidFill>
            </a:endParaRPr>
          </a:p>
        </p:txBody>
      </p:sp>
      <p:sp>
        <p:nvSpPr>
          <p:cNvPr id="16" name="Rectangle 15">
            <a:extLst>
              <a:ext uri="{FF2B5EF4-FFF2-40B4-BE49-F238E27FC236}">
                <a16:creationId xmlns:a16="http://schemas.microsoft.com/office/drawing/2014/main" id="{6B4A6D56-917B-72D3-81F7-A59A36FC4198}"/>
              </a:ext>
            </a:extLst>
          </p:cNvPr>
          <p:cNvSpPr/>
          <p:nvPr userDrawn="1"/>
        </p:nvSpPr>
        <p:spPr>
          <a:xfrm>
            <a:off x="12625444" y="4418033"/>
            <a:ext cx="1235879" cy="1235878"/>
          </a:xfrm>
          <a:prstGeom prst="rect">
            <a:avLst/>
          </a:prstGeom>
          <a:solidFill>
            <a:srgbClr val="8A3FFC"/>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latin typeface="IBM Plex Sans" panose="020B0503050203000203" pitchFamily="34" charset="0"/>
              </a:rPr>
              <a:t>#8A3FFC</a:t>
            </a:r>
          </a:p>
        </p:txBody>
      </p:sp>
      <p:sp>
        <p:nvSpPr>
          <p:cNvPr id="17" name="Rectangle 16">
            <a:extLst>
              <a:ext uri="{FF2B5EF4-FFF2-40B4-BE49-F238E27FC236}">
                <a16:creationId xmlns:a16="http://schemas.microsoft.com/office/drawing/2014/main" id="{49512372-0859-45E3-8DD7-AE730B4AFD19}"/>
              </a:ext>
            </a:extLst>
          </p:cNvPr>
          <p:cNvSpPr/>
          <p:nvPr userDrawn="1"/>
        </p:nvSpPr>
        <p:spPr>
          <a:xfrm>
            <a:off x="18071881" y="4418033"/>
            <a:ext cx="1235879" cy="1235878"/>
          </a:xfrm>
          <a:prstGeom prst="rect">
            <a:avLst/>
          </a:prstGeom>
          <a:solidFill>
            <a:srgbClr val="0072C3"/>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latin typeface="IBM Plex Sans" panose="020B0503050203000203" pitchFamily="34" charset="0"/>
              </a:rPr>
              <a:t>#0072C3</a:t>
            </a:r>
          </a:p>
        </p:txBody>
      </p:sp>
      <p:sp>
        <p:nvSpPr>
          <p:cNvPr id="18" name="Rectangle 17">
            <a:extLst>
              <a:ext uri="{FF2B5EF4-FFF2-40B4-BE49-F238E27FC236}">
                <a16:creationId xmlns:a16="http://schemas.microsoft.com/office/drawing/2014/main" id="{A4197D57-5F46-DB39-F81D-9205CC53189F}"/>
              </a:ext>
            </a:extLst>
          </p:cNvPr>
          <p:cNvSpPr/>
          <p:nvPr userDrawn="1"/>
        </p:nvSpPr>
        <p:spPr>
          <a:xfrm>
            <a:off x="14440923" y="4418033"/>
            <a:ext cx="1235879" cy="1235878"/>
          </a:xfrm>
          <a:prstGeom prst="rect">
            <a:avLst/>
          </a:prstGeom>
          <a:solidFill>
            <a:srgbClr val="D02670"/>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latin typeface="IBM Plex Sans" panose="020B0503050203000203" pitchFamily="34" charset="0"/>
              </a:rPr>
              <a:t>#D02670</a:t>
            </a:r>
          </a:p>
        </p:txBody>
      </p:sp>
      <p:sp>
        <p:nvSpPr>
          <p:cNvPr id="19" name="Rectangle 18">
            <a:extLst>
              <a:ext uri="{FF2B5EF4-FFF2-40B4-BE49-F238E27FC236}">
                <a16:creationId xmlns:a16="http://schemas.microsoft.com/office/drawing/2014/main" id="{570AA9B1-D6E7-98E2-49EF-C98B6F0E7E2F}"/>
              </a:ext>
            </a:extLst>
          </p:cNvPr>
          <p:cNvSpPr/>
          <p:nvPr userDrawn="1"/>
        </p:nvSpPr>
        <p:spPr>
          <a:xfrm>
            <a:off x="16256402" y="4418033"/>
            <a:ext cx="1235879" cy="1235878"/>
          </a:xfrm>
          <a:prstGeom prst="rect">
            <a:avLst/>
          </a:prstGeom>
          <a:solidFill>
            <a:srgbClr val="007D79"/>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latin typeface="IBM Plex Sans" panose="020B0503050203000203" pitchFamily="34" charset="0"/>
              </a:rPr>
              <a:t>#007D79</a:t>
            </a:r>
          </a:p>
        </p:txBody>
      </p:sp>
      <p:sp>
        <p:nvSpPr>
          <p:cNvPr id="20" name="TextBox 19">
            <a:extLst>
              <a:ext uri="{FF2B5EF4-FFF2-40B4-BE49-F238E27FC236}">
                <a16:creationId xmlns:a16="http://schemas.microsoft.com/office/drawing/2014/main" id="{B0A9DFA7-88D2-04F7-451C-7A2C388B178F}"/>
              </a:ext>
            </a:extLst>
          </p:cNvPr>
          <p:cNvSpPr txBox="1"/>
          <p:nvPr userDrawn="1"/>
        </p:nvSpPr>
        <p:spPr>
          <a:xfrm>
            <a:off x="12602453" y="5602152"/>
            <a:ext cx="1237839" cy="369332"/>
          </a:xfrm>
          <a:prstGeom prst="rect">
            <a:avLst/>
          </a:prstGeom>
          <a:noFill/>
        </p:spPr>
        <p:txBody>
          <a:bodyPr wrap="none" rtlCol="0">
            <a:spAutoFit/>
          </a:bodyPr>
          <a:lstStyle/>
          <a:p>
            <a:r>
              <a:rPr lang="en-US" b="1" i="0" dirty="0">
                <a:solidFill>
                  <a:srgbClr val="FFFFFF"/>
                </a:solidFill>
                <a:effectLst/>
              </a:rPr>
              <a:t>Purple 60</a:t>
            </a:r>
            <a:endParaRPr lang="en-US" b="1" dirty="0">
              <a:solidFill>
                <a:srgbClr val="FFFFFF"/>
              </a:solidFill>
            </a:endParaRPr>
          </a:p>
        </p:txBody>
      </p:sp>
      <p:sp>
        <p:nvSpPr>
          <p:cNvPr id="21" name="TextBox 20">
            <a:extLst>
              <a:ext uri="{FF2B5EF4-FFF2-40B4-BE49-F238E27FC236}">
                <a16:creationId xmlns:a16="http://schemas.microsoft.com/office/drawing/2014/main" id="{92C98F8E-1DCD-3647-3613-DFFC7CDFF372}"/>
              </a:ext>
            </a:extLst>
          </p:cNvPr>
          <p:cNvSpPr txBox="1"/>
          <p:nvPr userDrawn="1"/>
        </p:nvSpPr>
        <p:spPr>
          <a:xfrm>
            <a:off x="14334144" y="5602152"/>
            <a:ext cx="1448025" cy="369332"/>
          </a:xfrm>
          <a:prstGeom prst="rect">
            <a:avLst/>
          </a:prstGeom>
          <a:noFill/>
        </p:spPr>
        <p:txBody>
          <a:bodyPr wrap="none" rtlCol="0">
            <a:spAutoFit/>
          </a:bodyPr>
          <a:lstStyle/>
          <a:p>
            <a:r>
              <a:rPr lang="en-US" b="1" dirty="0">
                <a:solidFill>
                  <a:srgbClr val="FFFFFF"/>
                </a:solidFill>
              </a:rPr>
              <a:t>Magenta</a:t>
            </a:r>
            <a:r>
              <a:rPr lang="en-US" b="1" i="0" dirty="0">
                <a:solidFill>
                  <a:srgbClr val="FFFFFF"/>
                </a:solidFill>
                <a:effectLst/>
              </a:rPr>
              <a:t> 60</a:t>
            </a:r>
            <a:endParaRPr lang="en-US" b="1" dirty="0">
              <a:solidFill>
                <a:srgbClr val="FFFFFF"/>
              </a:solidFill>
            </a:endParaRPr>
          </a:p>
        </p:txBody>
      </p:sp>
      <p:sp>
        <p:nvSpPr>
          <p:cNvPr id="22" name="TextBox 21">
            <a:extLst>
              <a:ext uri="{FF2B5EF4-FFF2-40B4-BE49-F238E27FC236}">
                <a16:creationId xmlns:a16="http://schemas.microsoft.com/office/drawing/2014/main" id="{129F1073-373D-249D-C1F2-A527EB0210C9}"/>
              </a:ext>
            </a:extLst>
          </p:cNvPr>
          <p:cNvSpPr txBox="1"/>
          <p:nvPr userDrawn="1"/>
        </p:nvSpPr>
        <p:spPr>
          <a:xfrm>
            <a:off x="16404771" y="5602152"/>
            <a:ext cx="966931" cy="369332"/>
          </a:xfrm>
          <a:prstGeom prst="rect">
            <a:avLst/>
          </a:prstGeom>
          <a:noFill/>
        </p:spPr>
        <p:txBody>
          <a:bodyPr wrap="none" rtlCol="0">
            <a:spAutoFit/>
          </a:bodyPr>
          <a:lstStyle/>
          <a:p>
            <a:r>
              <a:rPr lang="en-US" b="1" dirty="0">
                <a:solidFill>
                  <a:srgbClr val="FFFFFF"/>
                </a:solidFill>
              </a:rPr>
              <a:t>Teal</a:t>
            </a:r>
            <a:r>
              <a:rPr lang="en-US" b="1" i="0" dirty="0">
                <a:solidFill>
                  <a:srgbClr val="FFFFFF"/>
                </a:solidFill>
                <a:effectLst/>
              </a:rPr>
              <a:t> 60</a:t>
            </a:r>
            <a:endParaRPr lang="en-US" b="1" dirty="0">
              <a:solidFill>
                <a:srgbClr val="FFFFFF"/>
              </a:solidFill>
            </a:endParaRPr>
          </a:p>
        </p:txBody>
      </p:sp>
      <p:sp>
        <p:nvSpPr>
          <p:cNvPr id="23" name="TextBox 22">
            <a:extLst>
              <a:ext uri="{FF2B5EF4-FFF2-40B4-BE49-F238E27FC236}">
                <a16:creationId xmlns:a16="http://schemas.microsoft.com/office/drawing/2014/main" id="{0D12B31A-8903-A616-B756-B8695FC8F38A}"/>
              </a:ext>
            </a:extLst>
          </p:cNvPr>
          <p:cNvSpPr txBox="1"/>
          <p:nvPr userDrawn="1"/>
        </p:nvSpPr>
        <p:spPr>
          <a:xfrm>
            <a:off x="18206642" y="5602152"/>
            <a:ext cx="1055097" cy="369332"/>
          </a:xfrm>
          <a:prstGeom prst="rect">
            <a:avLst/>
          </a:prstGeom>
          <a:noFill/>
        </p:spPr>
        <p:txBody>
          <a:bodyPr wrap="none" rtlCol="0">
            <a:spAutoFit/>
          </a:bodyPr>
          <a:lstStyle/>
          <a:p>
            <a:r>
              <a:rPr lang="en-US" b="1" dirty="0">
                <a:solidFill>
                  <a:srgbClr val="FFFFFF"/>
                </a:solidFill>
              </a:rPr>
              <a:t>Cyan</a:t>
            </a:r>
            <a:r>
              <a:rPr lang="en-US" b="1" i="0" dirty="0">
                <a:solidFill>
                  <a:srgbClr val="FFFFFF"/>
                </a:solidFill>
                <a:effectLst/>
              </a:rPr>
              <a:t> 60</a:t>
            </a:r>
            <a:endParaRPr lang="en-US" b="1" dirty="0">
              <a:solidFill>
                <a:srgbClr val="FFFFFF"/>
              </a:solidFill>
            </a:endParaRPr>
          </a:p>
        </p:txBody>
      </p:sp>
      <p:sp>
        <p:nvSpPr>
          <p:cNvPr id="24" name="Rectangle 23">
            <a:extLst>
              <a:ext uri="{FF2B5EF4-FFF2-40B4-BE49-F238E27FC236}">
                <a16:creationId xmlns:a16="http://schemas.microsoft.com/office/drawing/2014/main" id="{61892CDF-E500-AD18-C0DB-5405AF35ADE4}"/>
              </a:ext>
            </a:extLst>
          </p:cNvPr>
          <p:cNvSpPr/>
          <p:nvPr userDrawn="1"/>
        </p:nvSpPr>
        <p:spPr>
          <a:xfrm>
            <a:off x="19512379" y="2712316"/>
            <a:ext cx="1267863" cy="1267862"/>
          </a:xfrm>
          <a:prstGeom prst="rect">
            <a:avLst/>
          </a:prstGeom>
          <a:solidFill>
            <a:srgbClr val="121619"/>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bg2"/>
                </a:solidFill>
                <a:latin typeface="IBM Plex Sans" panose="020B0503050203000203" pitchFamily="34" charset="0"/>
              </a:rPr>
              <a:t>Icon</a:t>
            </a:r>
          </a:p>
          <a:p>
            <a:pPr algn="ctr"/>
            <a:r>
              <a:rPr lang="en-US" dirty="0">
                <a:solidFill>
                  <a:schemeClr val="bg2"/>
                </a:solidFill>
                <a:latin typeface="IBM Plex Sans" panose="020B0503050203000203" pitchFamily="34" charset="0"/>
              </a:rPr>
              <a:t>#</a:t>
            </a:r>
            <a:r>
              <a:rPr lang="en-US" b="0" i="0" dirty="0">
                <a:solidFill>
                  <a:srgbClr val="FFFFFF"/>
                </a:solidFill>
                <a:effectLst/>
                <a:latin typeface="IBM Plex Mono" panose="020B0509050203000203" pitchFamily="49" charset="0"/>
              </a:rPr>
              <a:t>000000</a:t>
            </a:r>
            <a:endParaRPr lang="en-US" dirty="0">
              <a:solidFill>
                <a:schemeClr val="bg2"/>
              </a:solidFill>
              <a:latin typeface="IBM Plex Sans" panose="020B0503050203000203" pitchFamily="34" charset="0"/>
            </a:endParaRPr>
          </a:p>
        </p:txBody>
      </p:sp>
      <p:sp>
        <p:nvSpPr>
          <p:cNvPr id="25" name="Rectangle 24">
            <a:extLst>
              <a:ext uri="{FF2B5EF4-FFF2-40B4-BE49-F238E27FC236}">
                <a16:creationId xmlns:a16="http://schemas.microsoft.com/office/drawing/2014/main" id="{FACF072D-B1FC-4829-B71E-556F57965D46}"/>
              </a:ext>
            </a:extLst>
          </p:cNvPr>
          <p:cNvSpPr/>
          <p:nvPr userDrawn="1"/>
        </p:nvSpPr>
        <p:spPr>
          <a:xfrm>
            <a:off x="19510690" y="4403963"/>
            <a:ext cx="1264019" cy="1264018"/>
          </a:xfrm>
          <a:prstGeom prst="rect">
            <a:avLst/>
          </a:prstGeom>
          <a:solidFill>
            <a:srgbClr val="FFFF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rgbClr val="262626"/>
                </a:solidFill>
                <a:latin typeface="IBM Plex Sans" panose="020B0503050203000203" pitchFamily="34" charset="0"/>
              </a:rPr>
              <a:t>Icon</a:t>
            </a:r>
          </a:p>
          <a:p>
            <a:pPr algn="ctr"/>
            <a:r>
              <a:rPr lang="en-US" dirty="0">
                <a:solidFill>
                  <a:srgbClr val="262626"/>
                </a:solidFill>
                <a:latin typeface="IBM Plex Sans" panose="020B0503050203000203" pitchFamily="34" charset="0"/>
              </a:rPr>
              <a:t>#</a:t>
            </a:r>
            <a:r>
              <a:rPr lang="en-US" b="0" i="0" dirty="0">
                <a:solidFill>
                  <a:srgbClr val="262626"/>
                </a:solidFill>
                <a:effectLst/>
                <a:latin typeface="IBM Plex Mono" panose="020B0509050203000203" pitchFamily="49" charset="0"/>
              </a:rPr>
              <a:t>FFFFFF</a:t>
            </a:r>
            <a:endParaRPr lang="en-US" dirty="0">
              <a:solidFill>
                <a:srgbClr val="262626"/>
              </a:solidFill>
              <a:latin typeface="IBM Plex Sans" panose="020B0503050203000203" pitchFamily="34" charset="0"/>
            </a:endParaRPr>
          </a:p>
        </p:txBody>
      </p:sp>
      <p:sp>
        <p:nvSpPr>
          <p:cNvPr id="26" name="Rectangle 25">
            <a:extLst>
              <a:ext uri="{FF2B5EF4-FFF2-40B4-BE49-F238E27FC236}">
                <a16:creationId xmlns:a16="http://schemas.microsoft.com/office/drawing/2014/main" id="{398BBA60-CCFF-F95A-ECC9-46204EA2214B}"/>
              </a:ext>
            </a:extLst>
          </p:cNvPr>
          <p:cNvSpPr/>
          <p:nvPr userDrawn="1"/>
        </p:nvSpPr>
        <p:spPr>
          <a:xfrm>
            <a:off x="12625444" y="1072749"/>
            <a:ext cx="1235879" cy="1235878"/>
          </a:xfrm>
          <a:prstGeom prst="rect">
            <a:avLst/>
          </a:prstGeom>
          <a:solidFill>
            <a:srgbClr val="F6F2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#F6F2FF</a:t>
            </a:r>
          </a:p>
        </p:txBody>
      </p:sp>
      <p:sp>
        <p:nvSpPr>
          <p:cNvPr id="27" name="Rectangle 26">
            <a:extLst>
              <a:ext uri="{FF2B5EF4-FFF2-40B4-BE49-F238E27FC236}">
                <a16:creationId xmlns:a16="http://schemas.microsoft.com/office/drawing/2014/main" id="{63F05CFF-A449-FBB3-5F13-F7A72C2E43DE}"/>
              </a:ext>
            </a:extLst>
          </p:cNvPr>
          <p:cNvSpPr/>
          <p:nvPr userDrawn="1"/>
        </p:nvSpPr>
        <p:spPr>
          <a:xfrm>
            <a:off x="18071881" y="1072749"/>
            <a:ext cx="1235879" cy="1235878"/>
          </a:xfrm>
          <a:prstGeom prst="rect">
            <a:avLst/>
          </a:prstGeom>
          <a:solidFill>
            <a:srgbClr val="E5F6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#E5F6FF</a:t>
            </a:r>
          </a:p>
        </p:txBody>
      </p:sp>
      <p:sp>
        <p:nvSpPr>
          <p:cNvPr id="28" name="Rectangle 27">
            <a:extLst>
              <a:ext uri="{FF2B5EF4-FFF2-40B4-BE49-F238E27FC236}">
                <a16:creationId xmlns:a16="http://schemas.microsoft.com/office/drawing/2014/main" id="{A4895BC4-B52A-2D00-62C1-71A44604BBB4}"/>
              </a:ext>
            </a:extLst>
          </p:cNvPr>
          <p:cNvSpPr/>
          <p:nvPr userDrawn="1"/>
        </p:nvSpPr>
        <p:spPr>
          <a:xfrm>
            <a:off x="14440923" y="1072749"/>
            <a:ext cx="1235879" cy="1235878"/>
          </a:xfrm>
          <a:prstGeom prst="rect">
            <a:avLst/>
          </a:prstGeom>
          <a:solidFill>
            <a:srgbClr val="FFF0F7"/>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#FFF0F7</a:t>
            </a:r>
          </a:p>
        </p:txBody>
      </p:sp>
      <p:sp>
        <p:nvSpPr>
          <p:cNvPr id="29" name="Rectangle 28">
            <a:extLst>
              <a:ext uri="{FF2B5EF4-FFF2-40B4-BE49-F238E27FC236}">
                <a16:creationId xmlns:a16="http://schemas.microsoft.com/office/drawing/2014/main" id="{F5B5B6C5-97CB-45FD-FDEC-1F5C2A0BDC3E}"/>
              </a:ext>
            </a:extLst>
          </p:cNvPr>
          <p:cNvSpPr/>
          <p:nvPr userDrawn="1"/>
        </p:nvSpPr>
        <p:spPr>
          <a:xfrm>
            <a:off x="16256402" y="1072749"/>
            <a:ext cx="1235879" cy="1235878"/>
          </a:xfrm>
          <a:prstGeom prst="rect">
            <a:avLst/>
          </a:prstGeom>
          <a:solidFill>
            <a:srgbClr val="D9FBFB"/>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#D9FBFB</a:t>
            </a:r>
          </a:p>
        </p:txBody>
      </p:sp>
      <p:sp>
        <p:nvSpPr>
          <p:cNvPr id="30" name="TextBox 29">
            <a:extLst>
              <a:ext uri="{FF2B5EF4-FFF2-40B4-BE49-F238E27FC236}">
                <a16:creationId xmlns:a16="http://schemas.microsoft.com/office/drawing/2014/main" id="{94DCC439-D448-E0FC-26EF-94C7A8B8D0DB}"/>
              </a:ext>
            </a:extLst>
          </p:cNvPr>
          <p:cNvSpPr txBox="1"/>
          <p:nvPr userDrawn="1"/>
        </p:nvSpPr>
        <p:spPr>
          <a:xfrm>
            <a:off x="12602453" y="2256868"/>
            <a:ext cx="1237839" cy="369332"/>
          </a:xfrm>
          <a:prstGeom prst="rect">
            <a:avLst/>
          </a:prstGeom>
          <a:noFill/>
        </p:spPr>
        <p:txBody>
          <a:bodyPr wrap="none" rtlCol="0">
            <a:spAutoFit/>
          </a:bodyPr>
          <a:lstStyle/>
          <a:p>
            <a:r>
              <a:rPr lang="en-US" b="1" i="0" dirty="0">
                <a:solidFill>
                  <a:srgbClr val="FFFFFF"/>
                </a:solidFill>
                <a:effectLst/>
              </a:rPr>
              <a:t>Purple 10</a:t>
            </a:r>
            <a:endParaRPr lang="en-US" b="1" dirty="0">
              <a:solidFill>
                <a:srgbClr val="FFFFFF"/>
              </a:solidFill>
            </a:endParaRPr>
          </a:p>
        </p:txBody>
      </p:sp>
      <p:sp>
        <p:nvSpPr>
          <p:cNvPr id="31" name="TextBox 30">
            <a:extLst>
              <a:ext uri="{FF2B5EF4-FFF2-40B4-BE49-F238E27FC236}">
                <a16:creationId xmlns:a16="http://schemas.microsoft.com/office/drawing/2014/main" id="{004B7B48-2E66-50BA-96FE-D24C4E60BFD7}"/>
              </a:ext>
            </a:extLst>
          </p:cNvPr>
          <p:cNvSpPr txBox="1"/>
          <p:nvPr userDrawn="1"/>
        </p:nvSpPr>
        <p:spPr>
          <a:xfrm>
            <a:off x="14334144" y="2256868"/>
            <a:ext cx="1449436" cy="369332"/>
          </a:xfrm>
          <a:prstGeom prst="rect">
            <a:avLst/>
          </a:prstGeom>
          <a:noFill/>
        </p:spPr>
        <p:txBody>
          <a:bodyPr wrap="none" rtlCol="0">
            <a:spAutoFit/>
          </a:bodyPr>
          <a:lstStyle/>
          <a:p>
            <a:r>
              <a:rPr lang="en-US" b="1" dirty="0">
                <a:solidFill>
                  <a:srgbClr val="FFFFFF"/>
                </a:solidFill>
              </a:rPr>
              <a:t>Magenta</a:t>
            </a:r>
            <a:r>
              <a:rPr lang="en-US" b="1" i="0" dirty="0">
                <a:solidFill>
                  <a:srgbClr val="FFFFFF"/>
                </a:solidFill>
                <a:effectLst/>
              </a:rPr>
              <a:t> 10</a:t>
            </a:r>
            <a:endParaRPr lang="en-US" b="1" dirty="0">
              <a:solidFill>
                <a:srgbClr val="FFFFFF"/>
              </a:solidFill>
            </a:endParaRPr>
          </a:p>
        </p:txBody>
      </p:sp>
      <p:sp>
        <p:nvSpPr>
          <p:cNvPr id="32" name="TextBox 31">
            <a:extLst>
              <a:ext uri="{FF2B5EF4-FFF2-40B4-BE49-F238E27FC236}">
                <a16:creationId xmlns:a16="http://schemas.microsoft.com/office/drawing/2014/main" id="{07C767BF-EB72-86A2-DBA6-0D26C6C02894}"/>
              </a:ext>
            </a:extLst>
          </p:cNvPr>
          <p:cNvSpPr txBox="1"/>
          <p:nvPr userDrawn="1"/>
        </p:nvSpPr>
        <p:spPr>
          <a:xfrm>
            <a:off x="16404771" y="2256868"/>
            <a:ext cx="966355" cy="369332"/>
          </a:xfrm>
          <a:prstGeom prst="rect">
            <a:avLst/>
          </a:prstGeom>
          <a:noFill/>
        </p:spPr>
        <p:txBody>
          <a:bodyPr wrap="none" rtlCol="0">
            <a:spAutoFit/>
          </a:bodyPr>
          <a:lstStyle/>
          <a:p>
            <a:r>
              <a:rPr lang="en-US" b="1" dirty="0">
                <a:solidFill>
                  <a:srgbClr val="FFFFFF"/>
                </a:solidFill>
              </a:rPr>
              <a:t>Teal</a:t>
            </a:r>
            <a:r>
              <a:rPr lang="en-US" b="1" i="0" dirty="0">
                <a:solidFill>
                  <a:srgbClr val="FFFFFF"/>
                </a:solidFill>
                <a:effectLst/>
              </a:rPr>
              <a:t> 10</a:t>
            </a:r>
            <a:endParaRPr lang="en-US" b="1" dirty="0">
              <a:solidFill>
                <a:srgbClr val="FFFFFF"/>
              </a:solidFill>
            </a:endParaRPr>
          </a:p>
        </p:txBody>
      </p:sp>
      <p:sp>
        <p:nvSpPr>
          <p:cNvPr id="33" name="TextBox 32">
            <a:extLst>
              <a:ext uri="{FF2B5EF4-FFF2-40B4-BE49-F238E27FC236}">
                <a16:creationId xmlns:a16="http://schemas.microsoft.com/office/drawing/2014/main" id="{BFEDF829-6CB0-F03B-E025-85D510B4DC26}"/>
              </a:ext>
            </a:extLst>
          </p:cNvPr>
          <p:cNvSpPr txBox="1"/>
          <p:nvPr userDrawn="1"/>
        </p:nvSpPr>
        <p:spPr>
          <a:xfrm>
            <a:off x="18206642" y="2256868"/>
            <a:ext cx="1055097" cy="369332"/>
          </a:xfrm>
          <a:prstGeom prst="rect">
            <a:avLst/>
          </a:prstGeom>
          <a:noFill/>
        </p:spPr>
        <p:txBody>
          <a:bodyPr wrap="none" rtlCol="0">
            <a:spAutoFit/>
          </a:bodyPr>
          <a:lstStyle/>
          <a:p>
            <a:r>
              <a:rPr lang="en-US" b="1" dirty="0">
                <a:solidFill>
                  <a:srgbClr val="FFFFFF"/>
                </a:solidFill>
              </a:rPr>
              <a:t>Cyan</a:t>
            </a:r>
            <a:r>
              <a:rPr lang="en-US" b="1" i="0" dirty="0">
                <a:solidFill>
                  <a:srgbClr val="FFFFFF"/>
                </a:solidFill>
                <a:effectLst/>
              </a:rPr>
              <a:t> 10</a:t>
            </a:r>
            <a:endParaRPr lang="en-US" b="1" dirty="0">
              <a:solidFill>
                <a:srgbClr val="FFFFFF"/>
              </a:solidFill>
            </a:endParaRPr>
          </a:p>
        </p:txBody>
      </p:sp>
      <p:sp>
        <p:nvSpPr>
          <p:cNvPr id="34" name="Rectangle 33">
            <a:extLst>
              <a:ext uri="{FF2B5EF4-FFF2-40B4-BE49-F238E27FC236}">
                <a16:creationId xmlns:a16="http://schemas.microsoft.com/office/drawing/2014/main" id="{7FF97BF5-A64D-02F2-4B04-BC95CE39DF3F}"/>
              </a:ext>
            </a:extLst>
          </p:cNvPr>
          <p:cNvSpPr/>
          <p:nvPr userDrawn="1"/>
        </p:nvSpPr>
        <p:spPr>
          <a:xfrm>
            <a:off x="16222135" y="-2341897"/>
            <a:ext cx="1267863" cy="1267862"/>
          </a:xfrm>
          <a:prstGeom prst="rect">
            <a:avLst/>
          </a:prstGeom>
          <a:solidFill>
            <a:srgbClr val="C1C7CD"/>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#C1C7CD</a:t>
            </a:r>
          </a:p>
        </p:txBody>
      </p:sp>
      <p:sp>
        <p:nvSpPr>
          <p:cNvPr id="37" name="Rectangle 36">
            <a:extLst>
              <a:ext uri="{FF2B5EF4-FFF2-40B4-BE49-F238E27FC236}">
                <a16:creationId xmlns:a16="http://schemas.microsoft.com/office/drawing/2014/main" id="{63738F9B-27C5-3C49-8FD7-0731EE9AC3BF}"/>
              </a:ext>
            </a:extLst>
          </p:cNvPr>
          <p:cNvSpPr/>
          <p:nvPr userDrawn="1"/>
        </p:nvSpPr>
        <p:spPr>
          <a:xfrm>
            <a:off x="16222135" y="-801901"/>
            <a:ext cx="1267863" cy="1267862"/>
          </a:xfrm>
          <a:prstGeom prst="rect">
            <a:avLst/>
          </a:prstGeom>
          <a:solidFill>
            <a:srgbClr val="F2F4F8"/>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#F2F4F8</a:t>
            </a:r>
          </a:p>
        </p:txBody>
      </p:sp>
      <p:sp>
        <p:nvSpPr>
          <p:cNvPr id="38" name="Rectangle 37">
            <a:extLst>
              <a:ext uri="{FF2B5EF4-FFF2-40B4-BE49-F238E27FC236}">
                <a16:creationId xmlns:a16="http://schemas.microsoft.com/office/drawing/2014/main" id="{A7194F16-D83C-3057-9151-A884EA8F0931}"/>
              </a:ext>
            </a:extLst>
          </p:cNvPr>
          <p:cNvSpPr/>
          <p:nvPr userDrawn="1"/>
        </p:nvSpPr>
        <p:spPr>
          <a:xfrm>
            <a:off x="14397282" y="-2352139"/>
            <a:ext cx="1267863" cy="1267862"/>
          </a:xfrm>
          <a:prstGeom prst="rect">
            <a:avLst/>
          </a:prstGeom>
          <a:solidFill>
            <a:srgbClr val="BE95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#BE95FF</a:t>
            </a:r>
          </a:p>
        </p:txBody>
      </p:sp>
      <p:sp>
        <p:nvSpPr>
          <p:cNvPr id="39" name="Rectangle 38">
            <a:extLst>
              <a:ext uri="{FF2B5EF4-FFF2-40B4-BE49-F238E27FC236}">
                <a16:creationId xmlns:a16="http://schemas.microsoft.com/office/drawing/2014/main" id="{80C7A661-0FF9-B849-2771-84AA24CF5EFF}"/>
              </a:ext>
            </a:extLst>
          </p:cNvPr>
          <p:cNvSpPr/>
          <p:nvPr userDrawn="1"/>
        </p:nvSpPr>
        <p:spPr>
          <a:xfrm>
            <a:off x="14397282" y="-812143"/>
            <a:ext cx="1267863" cy="1267862"/>
          </a:xfrm>
          <a:prstGeom prst="rect">
            <a:avLst/>
          </a:prstGeom>
          <a:solidFill>
            <a:srgbClr val="33B1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#33B1FF</a:t>
            </a:r>
          </a:p>
        </p:txBody>
      </p:sp>
      <p:sp>
        <p:nvSpPr>
          <p:cNvPr id="42" name="Rectangle 41">
            <a:extLst>
              <a:ext uri="{FF2B5EF4-FFF2-40B4-BE49-F238E27FC236}">
                <a16:creationId xmlns:a16="http://schemas.microsoft.com/office/drawing/2014/main" id="{784675A9-3F9A-460D-D8D6-C5D9516859D4}"/>
              </a:ext>
            </a:extLst>
          </p:cNvPr>
          <p:cNvSpPr/>
          <p:nvPr userDrawn="1"/>
        </p:nvSpPr>
        <p:spPr>
          <a:xfrm>
            <a:off x="12572429" y="-2309174"/>
            <a:ext cx="1267863" cy="1267862"/>
          </a:xfrm>
          <a:prstGeom prst="rect">
            <a:avLst/>
          </a:prstGeom>
          <a:solidFill>
            <a:srgbClr val="08BDBA"/>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#08BDBA</a:t>
            </a:r>
          </a:p>
        </p:txBody>
      </p:sp>
      <p:sp>
        <p:nvSpPr>
          <p:cNvPr id="43" name="Rectangle 42">
            <a:extLst>
              <a:ext uri="{FF2B5EF4-FFF2-40B4-BE49-F238E27FC236}">
                <a16:creationId xmlns:a16="http://schemas.microsoft.com/office/drawing/2014/main" id="{FD8C7787-7D0E-ED5D-DB99-53C4B52AA8F2}"/>
              </a:ext>
            </a:extLst>
          </p:cNvPr>
          <p:cNvSpPr/>
          <p:nvPr userDrawn="1"/>
        </p:nvSpPr>
        <p:spPr>
          <a:xfrm>
            <a:off x="12572429" y="-769178"/>
            <a:ext cx="1267863" cy="1267862"/>
          </a:xfrm>
          <a:prstGeom prst="rect">
            <a:avLst/>
          </a:prstGeom>
          <a:solidFill>
            <a:srgbClr val="78A9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#78A9FF</a:t>
            </a:r>
          </a:p>
        </p:txBody>
      </p:sp>
      <p:sp>
        <p:nvSpPr>
          <p:cNvPr id="46" name="Rectangle 45">
            <a:extLst>
              <a:ext uri="{FF2B5EF4-FFF2-40B4-BE49-F238E27FC236}">
                <a16:creationId xmlns:a16="http://schemas.microsoft.com/office/drawing/2014/main" id="{20CCBF62-5F94-E366-51BD-6C8DCBF90955}"/>
              </a:ext>
            </a:extLst>
          </p:cNvPr>
          <p:cNvSpPr/>
          <p:nvPr userDrawn="1"/>
        </p:nvSpPr>
        <p:spPr>
          <a:xfrm>
            <a:off x="17993876" y="-2309174"/>
            <a:ext cx="1267863" cy="1267862"/>
          </a:xfrm>
          <a:prstGeom prst="rect">
            <a:avLst/>
          </a:prstGeom>
          <a:solidFill>
            <a:srgbClr val="525252"/>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bg2"/>
                </a:solidFill>
                <a:latin typeface="IBM Plex Sans" panose="020B0503050203000203" pitchFamily="34" charset="0"/>
              </a:rPr>
              <a:t>Labels</a:t>
            </a:r>
          </a:p>
          <a:p>
            <a:pPr algn="ctr"/>
            <a:r>
              <a:rPr lang="en-US" dirty="0">
                <a:solidFill>
                  <a:schemeClr val="bg2"/>
                </a:solidFill>
                <a:latin typeface="IBM Plex Sans" panose="020B0503050203000203" pitchFamily="34" charset="0"/>
              </a:rPr>
              <a:t>#525252</a:t>
            </a:r>
          </a:p>
        </p:txBody>
      </p:sp>
      <p:sp>
        <p:nvSpPr>
          <p:cNvPr id="47" name="Rectangle 46">
            <a:extLst>
              <a:ext uri="{FF2B5EF4-FFF2-40B4-BE49-F238E27FC236}">
                <a16:creationId xmlns:a16="http://schemas.microsoft.com/office/drawing/2014/main" id="{E5880850-0EBA-AD14-E6FD-BB1DC94F3DA5}"/>
              </a:ext>
            </a:extLst>
          </p:cNvPr>
          <p:cNvSpPr/>
          <p:nvPr userDrawn="1"/>
        </p:nvSpPr>
        <p:spPr>
          <a:xfrm>
            <a:off x="17993875" y="-812143"/>
            <a:ext cx="1267863" cy="1267862"/>
          </a:xfrm>
          <a:prstGeom prst="rect">
            <a:avLst/>
          </a:prstGeom>
          <a:solidFill>
            <a:srgbClr val="262626"/>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bg2"/>
                </a:solidFill>
                <a:latin typeface="IBM Plex Sans" panose="020B0503050203000203" pitchFamily="34" charset="0"/>
              </a:rPr>
              <a:t>Text</a:t>
            </a:r>
          </a:p>
          <a:p>
            <a:pPr algn="ctr"/>
            <a:r>
              <a:rPr lang="en-US" dirty="0">
                <a:solidFill>
                  <a:schemeClr val="bg2"/>
                </a:solidFill>
                <a:latin typeface="IBM Plex Sans" panose="020B0503050203000203" pitchFamily="34" charset="0"/>
              </a:rPr>
              <a:t>#262626</a:t>
            </a:r>
          </a:p>
        </p:txBody>
      </p:sp>
      <p:grpSp>
        <p:nvGrpSpPr>
          <p:cNvPr id="64" name="Group 63">
            <a:extLst>
              <a:ext uri="{FF2B5EF4-FFF2-40B4-BE49-F238E27FC236}">
                <a16:creationId xmlns:a16="http://schemas.microsoft.com/office/drawing/2014/main" id="{56209ACE-A4F7-EAC9-E98F-D141BE77F994}"/>
              </a:ext>
            </a:extLst>
          </p:cNvPr>
          <p:cNvGrpSpPr/>
          <p:nvPr userDrawn="1"/>
        </p:nvGrpSpPr>
        <p:grpSpPr>
          <a:xfrm>
            <a:off x="11094856" y="6244940"/>
            <a:ext cx="1098532" cy="613059"/>
            <a:chOff x="8965342" y="4231217"/>
            <a:chExt cx="1608171" cy="897474"/>
          </a:xfrm>
        </p:grpSpPr>
        <p:pic>
          <p:nvPicPr>
            <p:cNvPr id="60" name="Graphic 59">
              <a:extLst>
                <a:ext uri="{FF2B5EF4-FFF2-40B4-BE49-F238E27FC236}">
                  <a16:creationId xmlns:a16="http://schemas.microsoft.com/office/drawing/2014/main" id="{EFEE4105-67FB-F40B-E7BD-8C9B80C32F89}"/>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9321121" y="4418033"/>
              <a:ext cx="897474" cy="355817"/>
            </a:xfrm>
            <a:prstGeom prst="rect">
              <a:avLst/>
            </a:prstGeom>
          </p:spPr>
        </p:pic>
        <p:pic>
          <p:nvPicPr>
            <p:cNvPr id="61" name="Graphic 60" hidden="1">
              <a:extLst>
                <a:ext uri="{FF2B5EF4-FFF2-40B4-BE49-F238E27FC236}">
                  <a16:creationId xmlns:a16="http://schemas.microsoft.com/office/drawing/2014/main" id="{9AB2407C-B3E2-DCDD-0692-DD32E3C45227}"/>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9321121" y="4772874"/>
              <a:ext cx="897474" cy="355817"/>
            </a:xfrm>
            <a:prstGeom prst="rect">
              <a:avLst/>
            </a:prstGeom>
          </p:spPr>
        </p:pic>
        <p:pic>
          <p:nvPicPr>
            <p:cNvPr id="62" name="Graphic 61" hidden="1">
              <a:extLst>
                <a:ext uri="{FF2B5EF4-FFF2-40B4-BE49-F238E27FC236}">
                  <a16:creationId xmlns:a16="http://schemas.microsoft.com/office/drawing/2014/main" id="{9128FFA9-E729-6051-FE44-5C57854D2B9B}"/>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rot="16200000">
              <a:off x="9946868" y="4502045"/>
              <a:ext cx="897474" cy="355817"/>
            </a:xfrm>
            <a:prstGeom prst="rect">
              <a:avLst/>
            </a:prstGeom>
          </p:spPr>
        </p:pic>
        <p:pic>
          <p:nvPicPr>
            <p:cNvPr id="63" name="Graphic 62" hidden="1">
              <a:extLst>
                <a:ext uri="{FF2B5EF4-FFF2-40B4-BE49-F238E27FC236}">
                  <a16:creationId xmlns:a16="http://schemas.microsoft.com/office/drawing/2014/main" id="{21D1BE07-55D7-FEB6-D90F-FC214DFBDA4C}"/>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rot="16200000">
              <a:off x="8694514" y="4502045"/>
              <a:ext cx="897474" cy="355817"/>
            </a:xfrm>
            <a:prstGeom prst="rect">
              <a:avLst/>
            </a:prstGeom>
          </p:spPr>
        </p:pic>
      </p:grpSp>
      <p:pic>
        <p:nvPicPr>
          <p:cNvPr id="66" name="Graphic 65">
            <a:extLst>
              <a:ext uri="{FF2B5EF4-FFF2-40B4-BE49-F238E27FC236}">
                <a16:creationId xmlns:a16="http://schemas.microsoft.com/office/drawing/2014/main" id="{FD0E63E5-36ED-0A5F-F2A0-E31AD11555EA}"/>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241053" y="6372101"/>
            <a:ext cx="1630680" cy="247650"/>
          </a:xfrm>
          <a:prstGeom prst="rect">
            <a:avLst/>
          </a:prstGeom>
        </p:spPr>
      </p:pic>
      <p:sp>
        <p:nvSpPr>
          <p:cNvPr id="67" name="Rectangle 66" hidden="1">
            <a:extLst>
              <a:ext uri="{FF2B5EF4-FFF2-40B4-BE49-F238E27FC236}">
                <a16:creationId xmlns:a16="http://schemas.microsoft.com/office/drawing/2014/main" id="{04EE5960-43EB-4B14-0782-2876BE85A607}"/>
              </a:ext>
            </a:extLst>
          </p:cNvPr>
          <p:cNvSpPr/>
          <p:nvPr userDrawn="1"/>
        </p:nvSpPr>
        <p:spPr>
          <a:xfrm>
            <a:off x="-76201" y="6356350"/>
            <a:ext cx="12353925" cy="276797"/>
          </a:xfrm>
          <a:prstGeom prst="rect">
            <a:avLst/>
          </a:prstGeom>
          <a:noFill/>
          <a:ln w="28575">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ustDataLst>
      <p:tags r:id="rId8"/>
    </p:custDataLst>
    <p:extLst>
      <p:ext uri="{BB962C8B-B14F-4D97-AF65-F5344CB8AC3E}">
        <p14:creationId xmlns:p14="http://schemas.microsoft.com/office/powerpoint/2010/main" val="36510153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defTabSz="914400" rtl="0" eaLnBrk="1" latinLnBrk="0" hangingPunct="1">
        <a:lnSpc>
          <a:spcPct val="90000"/>
        </a:lnSpc>
        <a:spcBef>
          <a:spcPct val="0"/>
        </a:spcBef>
        <a:buNone/>
        <a:defRPr sz="4000" b="1" i="0" kern="1200">
          <a:solidFill>
            <a:srgbClr val="525252"/>
          </a:solidFill>
          <a:latin typeface="IBM Plex Sans SemiBold" panose="020B0503050203000203" pitchFamily="34" charset="0"/>
          <a:ea typeface="IBM Plex Sans SemiBold" panose="020B0503050203000203" pitchFamily="34" charset="0"/>
          <a:cs typeface="IBM Plex Sans SemiBold" panose="020B0503050203000203" pitchFamily="34" charset="0"/>
        </a:defRPr>
      </a:lvl1pPr>
    </p:titleStyle>
    <p:body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262626"/>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262626"/>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xml"/><Relationship Id="rId1" Type="http://schemas.openxmlformats.org/officeDocument/2006/relationships/tags" Target="../tags/tag6.xml"/></Relationships>
</file>

<file path=ppt/slides/_rels/slide2.xml.rels><?xml version="1.0" encoding="UTF-8" standalone="yes"?>
<Relationships xmlns="http://schemas.openxmlformats.org/package/2006/relationships"><Relationship Id="rId8" Type="http://schemas.openxmlformats.org/officeDocument/2006/relationships/customXml" Target="../ink/ink4.xml"/><Relationship Id="rId13" Type="http://schemas.openxmlformats.org/officeDocument/2006/relationships/customXml" Target="../ink/ink8.xml"/><Relationship Id="rId3" Type="http://schemas.openxmlformats.org/officeDocument/2006/relationships/image" Target="../media/image9.png"/><Relationship Id="rId7" Type="http://schemas.openxmlformats.org/officeDocument/2006/relationships/customXml" Target="../ink/ink3.xml"/><Relationship Id="rId12" Type="http://schemas.openxmlformats.org/officeDocument/2006/relationships/customXml" Target="../ink/ink7.xml"/><Relationship Id="rId2" Type="http://schemas.openxmlformats.org/officeDocument/2006/relationships/slideLayout" Target="../slideLayouts/slideLayout2.xml"/><Relationship Id="rId1" Type="http://schemas.openxmlformats.org/officeDocument/2006/relationships/tags" Target="../tags/tag7.xml"/><Relationship Id="rId6" Type="http://schemas.openxmlformats.org/officeDocument/2006/relationships/customXml" Target="../ink/ink2.xml"/><Relationship Id="rId11" Type="http://schemas.openxmlformats.org/officeDocument/2006/relationships/customXml" Target="../ink/ink6.xml"/><Relationship Id="rId5" Type="http://schemas.openxmlformats.org/officeDocument/2006/relationships/image" Target="../media/image10.png"/><Relationship Id="rId10" Type="http://schemas.openxmlformats.org/officeDocument/2006/relationships/customXml" Target="../ink/ink5.xml"/><Relationship Id="rId4" Type="http://schemas.openxmlformats.org/officeDocument/2006/relationships/customXml" Target="../ink/ink1.xml"/><Relationship Id="rId9" Type="http://schemas.openxmlformats.org/officeDocument/2006/relationships/image" Target="../media/image11.png"/><Relationship Id="rId14" Type="http://schemas.openxmlformats.org/officeDocument/2006/relationships/customXml" Target="../ink/ink9.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3.xml"/><Relationship Id="rId1" Type="http://schemas.openxmlformats.org/officeDocument/2006/relationships/tags" Target="../tags/tag9.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3.xml"/><Relationship Id="rId1" Type="http://schemas.openxmlformats.org/officeDocument/2006/relationships/tags" Target="../tags/tag10.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slideLayout" Target="../slideLayouts/slideLayout3.xml"/><Relationship Id="rId1" Type="http://schemas.openxmlformats.org/officeDocument/2006/relationships/tags" Target="../tags/tag11.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3.xml"/><Relationship Id="rId1" Type="http://schemas.openxmlformats.org/officeDocument/2006/relationships/tags" Target="../tags/tag1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3.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3.xml"/><Relationship Id="rId1" Type="http://schemas.openxmlformats.org/officeDocument/2006/relationships/tags" Target="../tags/tag14.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5.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ulamRasoolSiddiqui/Python-Project-for-Data-Science/blob/main/Current%20Technology%20Usage.pdf" TargetMode="External"/><Relationship Id="rId2" Type="http://schemas.openxmlformats.org/officeDocument/2006/relationships/slideLayout" Target="../slideLayouts/slideLayout3.xml"/><Relationship Id="rId1" Type="http://schemas.openxmlformats.org/officeDocument/2006/relationships/tags" Target="../tags/tag16.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ags" Target="../tags/tag1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Layout" Target="../slideLayouts/slideLayout2.xml"/><Relationship Id="rId1" Type="http://schemas.openxmlformats.org/officeDocument/2006/relationships/tags" Target="../tags/tag18.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slideLayout" Target="../slideLayouts/slideLayout3.xml"/><Relationship Id="rId1" Type="http://schemas.openxmlformats.org/officeDocument/2006/relationships/tags" Target="../tags/tag19.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3.xml"/><Relationship Id="rId1" Type="http://schemas.openxmlformats.org/officeDocument/2006/relationships/tags" Target="../tags/tag20.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21.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slideLayout" Target="../slideLayouts/slideLayout3.xml"/><Relationship Id="rId1" Type="http://schemas.openxmlformats.org/officeDocument/2006/relationships/tags" Target="../tags/tag2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Layout" Target="../slideLayouts/slideLayout3.xml"/><Relationship Id="rId1" Type="http://schemas.openxmlformats.org/officeDocument/2006/relationships/tags" Target="../tags/tag23.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slideLayout" Target="../slideLayouts/slideLayout3.xml"/><Relationship Id="rId1" Type="http://schemas.openxmlformats.org/officeDocument/2006/relationships/tags" Target="../tags/tag24.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slideLayout" Target="../slideLayouts/slideLayout3.xml"/><Relationship Id="rId1" Type="http://schemas.openxmlformats.org/officeDocument/2006/relationships/tags" Target="../tags/tag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D5631-0297-E86E-7069-C969B141FD7D}"/>
              </a:ext>
            </a:extLst>
          </p:cNvPr>
          <p:cNvSpPr>
            <a:spLocks noGrp="1"/>
          </p:cNvSpPr>
          <p:nvPr>
            <p:ph type="ctrTitle"/>
          </p:nvPr>
        </p:nvSpPr>
        <p:spPr>
          <a:xfrm>
            <a:off x="-757825" y="1168401"/>
            <a:ext cx="9135454" cy="2387600"/>
          </a:xfrm>
          <a:noFill/>
        </p:spPr>
        <p:txBody>
          <a:bodyPr/>
          <a:lstStyle/>
          <a:p>
            <a:r>
              <a:rPr lang="en-US" dirty="0"/>
              <a:t>Survey Data Analysis</a:t>
            </a:r>
            <a:br>
              <a:rPr lang="en-US" dirty="0"/>
            </a:br>
            <a:r>
              <a:rPr lang="en-US" sz="1400" dirty="0"/>
              <a:t> </a:t>
            </a:r>
            <a:endParaRPr lang="en-US" dirty="0"/>
          </a:p>
        </p:txBody>
      </p:sp>
      <p:sp>
        <p:nvSpPr>
          <p:cNvPr id="3" name="Subtitle 2">
            <a:extLst>
              <a:ext uri="{FF2B5EF4-FFF2-40B4-BE49-F238E27FC236}">
                <a16:creationId xmlns:a16="http://schemas.microsoft.com/office/drawing/2014/main" id="{59DF6B8D-2BAC-11F8-7D28-B631D08C8D90}"/>
              </a:ext>
            </a:extLst>
          </p:cNvPr>
          <p:cNvSpPr>
            <a:spLocks noGrp="1"/>
          </p:cNvSpPr>
          <p:nvPr>
            <p:ph type="subTitle" idx="1"/>
          </p:nvPr>
        </p:nvSpPr>
        <p:spPr>
          <a:xfrm>
            <a:off x="-110027" y="3731247"/>
            <a:ext cx="9135454" cy="1655762"/>
          </a:xfrm>
          <a:noFill/>
        </p:spPr>
        <p:txBody>
          <a:bodyPr/>
          <a:lstStyle/>
          <a:p>
            <a:endParaRPr lang="en-US" dirty="0"/>
          </a:p>
          <a:p>
            <a:r>
              <a:rPr lang="en-US" dirty="0"/>
              <a:t>Part 1</a:t>
            </a:r>
          </a:p>
        </p:txBody>
      </p:sp>
      <p:pic>
        <p:nvPicPr>
          <p:cNvPr id="4" name="Picture 3">
            <a:extLst>
              <a:ext uri="{FF2B5EF4-FFF2-40B4-BE49-F238E27FC236}">
                <a16:creationId xmlns:a16="http://schemas.microsoft.com/office/drawing/2014/main" id="{77323E2C-8982-861D-BE1D-3E30E5CC437C}"/>
              </a:ext>
            </a:extLst>
          </p:cNvPr>
          <p:cNvPicPr>
            <a:picLocks noChangeAspect="1"/>
          </p:cNvPicPr>
          <p:nvPr/>
        </p:nvPicPr>
        <p:blipFill>
          <a:blip r:embed="rId3"/>
          <a:stretch>
            <a:fillRect/>
          </a:stretch>
        </p:blipFill>
        <p:spPr>
          <a:xfrm>
            <a:off x="7184719" y="387350"/>
            <a:ext cx="4794861" cy="4351338"/>
          </a:xfrm>
          <a:prstGeom prst="rect">
            <a:avLst/>
          </a:prstGeom>
          <a:noFill/>
        </p:spPr>
      </p:pic>
      <p:sp>
        <p:nvSpPr>
          <p:cNvPr id="6" name="TextBox 5">
            <a:extLst>
              <a:ext uri="{FF2B5EF4-FFF2-40B4-BE49-F238E27FC236}">
                <a16:creationId xmlns:a16="http://schemas.microsoft.com/office/drawing/2014/main" id="{D8699CF7-DA14-54B2-8C16-A5EAB91A2F55}"/>
              </a:ext>
            </a:extLst>
          </p:cNvPr>
          <p:cNvSpPr txBox="1"/>
          <p:nvPr/>
        </p:nvSpPr>
        <p:spPr>
          <a:xfrm>
            <a:off x="4568869" y="3263613"/>
            <a:ext cx="3387246"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2060"/>
                </a:solidFill>
                <a:effectLst/>
                <a:uLnTx/>
                <a:uFillTx/>
                <a:latin typeface="IBM Plex Sans SemiBold"/>
                <a:ea typeface="+mn-ea"/>
                <a:cs typeface="+mn-cs"/>
              </a:rPr>
              <a:t>Gulam Rasool Siddiqui</a:t>
            </a:r>
            <a:br>
              <a:rPr kumimoji="0" lang="en-US" sz="1400" b="1" i="0" u="none" strike="noStrike" kern="1200" cap="none" spc="0" normalizeH="0" baseline="0" noProof="0" dirty="0">
                <a:ln>
                  <a:noFill/>
                </a:ln>
                <a:solidFill>
                  <a:srgbClr val="002060"/>
                </a:solidFill>
                <a:effectLst/>
                <a:uLnTx/>
                <a:uFillTx/>
                <a:latin typeface="IBM Plex Sans SemiBold"/>
                <a:ea typeface="+mn-ea"/>
                <a:cs typeface="+mn-cs"/>
              </a:rPr>
            </a:br>
            <a:r>
              <a:rPr kumimoji="0" lang="en-US" sz="1400" b="1" i="0" u="none" strike="noStrike" kern="1200" cap="none" spc="0" normalizeH="0" baseline="0" noProof="0" dirty="0">
                <a:ln>
                  <a:noFill/>
                </a:ln>
                <a:solidFill>
                  <a:srgbClr val="002060"/>
                </a:solidFill>
                <a:effectLst/>
                <a:uLnTx/>
                <a:uFillTx/>
                <a:latin typeface="IBM Plex Sans SemiBold"/>
                <a:ea typeface="+mn-ea"/>
                <a:cs typeface="+mn-cs"/>
              </a:rPr>
              <a:t>01/02/2025</a:t>
            </a:r>
          </a:p>
        </p:txBody>
      </p:sp>
    </p:spTree>
    <p:custDataLst>
      <p:tags r:id="rId1"/>
    </p:custDataLst>
    <p:extLst>
      <p:ext uri="{BB962C8B-B14F-4D97-AF65-F5344CB8AC3E}">
        <p14:creationId xmlns:p14="http://schemas.microsoft.com/office/powerpoint/2010/main" val="4009730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13BC838-B25A-D37F-BC71-DD617895704C}"/>
              </a:ext>
            </a:extLst>
          </p:cNvPr>
          <p:cNvPicPr>
            <a:picLocks noChangeAspect="1"/>
          </p:cNvPicPr>
          <p:nvPr/>
        </p:nvPicPr>
        <p:blipFill>
          <a:blip r:embed="rId3"/>
          <a:stretch>
            <a:fillRect/>
          </a:stretch>
        </p:blipFill>
        <p:spPr>
          <a:xfrm>
            <a:off x="1450711" y="2025672"/>
            <a:ext cx="3194581" cy="3194581"/>
          </a:xfrm>
          <a:prstGeom prst="rect">
            <a:avLst/>
          </a:prstGeom>
        </p:spPr>
      </p:pic>
      <p:sp>
        <p:nvSpPr>
          <p:cNvPr id="9" name="Title 1">
            <a:extLst>
              <a:ext uri="{FF2B5EF4-FFF2-40B4-BE49-F238E27FC236}">
                <a16:creationId xmlns:a16="http://schemas.microsoft.com/office/drawing/2014/main" id="{EEC79264-7E04-A135-9158-F7EF333AC3D8}"/>
              </a:ext>
            </a:extLst>
          </p:cNvPr>
          <p:cNvSpPr txBox="1">
            <a:spLocks/>
          </p:cNvSpPr>
          <p:nvPr/>
        </p:nvSpPr>
        <p:spPr>
          <a:xfrm>
            <a:off x="782054" y="263810"/>
            <a:ext cx="850852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b="1" i="0" kern="1200">
                <a:solidFill>
                  <a:srgbClr val="525252"/>
                </a:solidFill>
                <a:latin typeface="IBM Plex Sans SemiBold" panose="020B0503050203000203" pitchFamily="34" charset="0"/>
                <a:ea typeface="IBM Plex Sans SemiBold" panose="020B0503050203000203" pitchFamily="34" charset="0"/>
                <a:cs typeface="IBM Plex Sans SemiBold" panose="020B0503050203000203" pitchFamily="34"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000" b="1" i="0" u="none" strike="noStrike" kern="1200" cap="none" spc="0" normalizeH="0" baseline="0" noProof="0" dirty="0">
                <a:ln>
                  <a:noFill/>
                </a:ln>
                <a:solidFill>
                  <a:srgbClr val="525252"/>
                </a:solidFill>
                <a:effectLst/>
                <a:uLnTx/>
                <a:uFillTx/>
                <a:latin typeface="IBM Plex Sans SemiBold" panose="020B0503050203000203" pitchFamily="34" charset="0"/>
              </a:rPr>
              <a:t>OUTLINE</a:t>
            </a:r>
          </a:p>
        </p:txBody>
      </p:sp>
      <p:sp>
        <p:nvSpPr>
          <p:cNvPr id="10" name="Content Placeholder 2">
            <a:extLst>
              <a:ext uri="{FF2B5EF4-FFF2-40B4-BE49-F238E27FC236}">
                <a16:creationId xmlns:a16="http://schemas.microsoft.com/office/drawing/2014/main" id="{79639434-C7DB-C6DD-28C9-5FE3588C5BC8}"/>
              </a:ext>
            </a:extLst>
          </p:cNvPr>
          <p:cNvSpPr txBox="1">
            <a:spLocks/>
          </p:cNvSpPr>
          <p:nvPr/>
        </p:nvSpPr>
        <p:spPr>
          <a:xfrm>
            <a:off x="6172200" y="1825625"/>
            <a:ext cx="5181600" cy="4351338"/>
          </a:xfrm>
          <a:prstGeom prst="rect">
            <a:avLst/>
          </a:prstGeom>
        </p:spPr>
        <p:txBody>
          <a:bodyPr>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262626"/>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262626"/>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Executive Summary</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Introduction</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Methodology</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Results</a:t>
            </a:r>
          </a:p>
          <a:p>
            <a:pPr marL="685800" marR="0" lvl="1" indent="-228600" algn="l" defTabSz="914400" rtl="0" eaLnBrk="1" fontAlgn="auto" latinLnBrk="0" hangingPunct="1">
              <a:lnSpc>
                <a:spcPct val="90000"/>
              </a:lnSpc>
              <a:spcBef>
                <a:spcPts val="500"/>
              </a:spcBef>
              <a:spcAft>
                <a:spcPts val="0"/>
              </a:spcAft>
              <a:buClrTx/>
              <a:buSzTx/>
              <a:buFont typeface="Arial"/>
              <a:buChar char="•"/>
              <a:tabLst/>
              <a:defRPr/>
            </a:pPr>
            <a:r>
              <a:rPr kumimoji="0" lang="en-US" sz="18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Visualization – Charts</a:t>
            </a:r>
          </a:p>
          <a:p>
            <a:pPr marL="685800" marR="0" lvl="1" indent="-228600" algn="l" defTabSz="914400" rtl="0" eaLnBrk="1" fontAlgn="auto" latinLnBrk="0" hangingPunct="1">
              <a:lnSpc>
                <a:spcPct val="90000"/>
              </a:lnSpc>
              <a:spcBef>
                <a:spcPts val="500"/>
              </a:spcBef>
              <a:spcAft>
                <a:spcPts val="0"/>
              </a:spcAft>
              <a:buClrTx/>
              <a:buSzTx/>
              <a:buFont typeface="Arial"/>
              <a:buChar char="•"/>
              <a:tabLst/>
              <a:defRPr/>
            </a:pPr>
            <a:r>
              <a:rPr kumimoji="0" lang="en-US" sz="18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Dashboard</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Discussion</a:t>
            </a:r>
          </a:p>
          <a:p>
            <a:pPr marL="685800" marR="0" lvl="1" indent="-228600" algn="l" defTabSz="914400" rtl="0" eaLnBrk="1" fontAlgn="auto" latinLnBrk="0" hangingPunct="1">
              <a:lnSpc>
                <a:spcPct val="90000"/>
              </a:lnSpc>
              <a:spcBef>
                <a:spcPts val="500"/>
              </a:spcBef>
              <a:spcAft>
                <a:spcPts val="0"/>
              </a:spcAft>
              <a:buClrTx/>
              <a:buSzTx/>
              <a:buFont typeface="Arial"/>
              <a:buChar char="•"/>
              <a:tabLst/>
              <a:defRPr/>
            </a:pPr>
            <a:r>
              <a:rPr kumimoji="0" lang="en-US" sz="18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Findings &amp; Implications</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Conclusion</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Appendix</a:t>
            </a:r>
          </a:p>
        </p:txBody>
      </p:sp>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17992DA0-58E4-05C4-71CF-DD740B996440}"/>
                  </a:ext>
                </a:extLst>
              </p14:cNvPr>
              <p14:cNvContentPartPr/>
              <p14:nvPr/>
            </p14:nvContentPartPr>
            <p14:xfrm>
              <a:off x="1889280" y="999312"/>
              <a:ext cx="360" cy="360"/>
            </p14:xfrm>
          </p:contentPart>
        </mc:Choice>
        <mc:Fallback xmlns="">
          <p:pic>
            <p:nvPicPr>
              <p:cNvPr id="11" name="Ink 10">
                <a:extLst>
                  <a:ext uri="{FF2B5EF4-FFF2-40B4-BE49-F238E27FC236}">
                    <a16:creationId xmlns:a16="http://schemas.microsoft.com/office/drawing/2014/main" id="{17992DA0-58E4-05C4-71CF-DD740B996440}"/>
                  </a:ext>
                </a:extLst>
              </p:cNvPr>
              <p:cNvPicPr/>
              <p:nvPr/>
            </p:nvPicPr>
            <p:blipFill>
              <a:blip r:embed="rId5"/>
              <a:stretch>
                <a:fillRect/>
              </a:stretch>
            </p:blipFill>
            <p:spPr>
              <a:xfrm>
                <a:off x="1799280" y="81931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2" name="Ink 11">
                <a:extLst>
                  <a:ext uri="{FF2B5EF4-FFF2-40B4-BE49-F238E27FC236}">
                    <a16:creationId xmlns:a16="http://schemas.microsoft.com/office/drawing/2014/main" id="{482A2257-403C-392A-475C-257A25E95802}"/>
                  </a:ext>
                </a:extLst>
              </p14:cNvPr>
              <p14:cNvContentPartPr/>
              <p14:nvPr/>
            </p14:nvContentPartPr>
            <p14:xfrm>
              <a:off x="2328120" y="962952"/>
              <a:ext cx="360" cy="360"/>
            </p14:xfrm>
          </p:contentPart>
        </mc:Choice>
        <mc:Fallback xmlns="">
          <p:pic>
            <p:nvPicPr>
              <p:cNvPr id="12" name="Ink 11">
                <a:extLst>
                  <a:ext uri="{FF2B5EF4-FFF2-40B4-BE49-F238E27FC236}">
                    <a16:creationId xmlns:a16="http://schemas.microsoft.com/office/drawing/2014/main" id="{482A2257-403C-392A-475C-257A25E95802}"/>
                  </a:ext>
                </a:extLst>
              </p:cNvPr>
              <p:cNvPicPr/>
              <p:nvPr/>
            </p:nvPicPr>
            <p:blipFill>
              <a:blip r:embed="rId5"/>
              <a:stretch>
                <a:fillRect/>
              </a:stretch>
            </p:blipFill>
            <p:spPr>
              <a:xfrm>
                <a:off x="2238120" y="782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3" name="Ink 12">
                <a:extLst>
                  <a:ext uri="{FF2B5EF4-FFF2-40B4-BE49-F238E27FC236}">
                    <a16:creationId xmlns:a16="http://schemas.microsoft.com/office/drawing/2014/main" id="{D029E5DF-95C3-9324-3430-6C07411D941C}"/>
                  </a:ext>
                </a:extLst>
              </p14:cNvPr>
              <p14:cNvContentPartPr/>
              <p14:nvPr/>
            </p14:nvContentPartPr>
            <p14:xfrm>
              <a:off x="2828160" y="926232"/>
              <a:ext cx="360" cy="360"/>
            </p14:xfrm>
          </p:contentPart>
        </mc:Choice>
        <mc:Fallback xmlns="">
          <p:pic>
            <p:nvPicPr>
              <p:cNvPr id="13" name="Ink 12">
                <a:extLst>
                  <a:ext uri="{FF2B5EF4-FFF2-40B4-BE49-F238E27FC236}">
                    <a16:creationId xmlns:a16="http://schemas.microsoft.com/office/drawing/2014/main" id="{D029E5DF-95C3-9324-3430-6C07411D941C}"/>
                  </a:ext>
                </a:extLst>
              </p:cNvPr>
              <p:cNvPicPr/>
              <p:nvPr/>
            </p:nvPicPr>
            <p:blipFill>
              <a:blip r:embed="rId5"/>
              <a:stretch>
                <a:fillRect/>
              </a:stretch>
            </p:blipFill>
            <p:spPr>
              <a:xfrm>
                <a:off x="2738160" y="74623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4" name="Ink 13">
                <a:extLst>
                  <a:ext uri="{FF2B5EF4-FFF2-40B4-BE49-F238E27FC236}">
                    <a16:creationId xmlns:a16="http://schemas.microsoft.com/office/drawing/2014/main" id="{51E65F16-DA3B-6993-F729-45193F9CF124}"/>
                  </a:ext>
                </a:extLst>
              </p14:cNvPr>
              <p14:cNvContentPartPr/>
              <p14:nvPr/>
            </p14:nvContentPartPr>
            <p14:xfrm>
              <a:off x="2828160" y="926232"/>
              <a:ext cx="3240" cy="5040"/>
            </p14:xfrm>
          </p:contentPart>
        </mc:Choice>
        <mc:Fallback xmlns="">
          <p:pic>
            <p:nvPicPr>
              <p:cNvPr id="14" name="Ink 13">
                <a:extLst>
                  <a:ext uri="{FF2B5EF4-FFF2-40B4-BE49-F238E27FC236}">
                    <a16:creationId xmlns:a16="http://schemas.microsoft.com/office/drawing/2014/main" id="{51E65F16-DA3B-6993-F729-45193F9CF124}"/>
                  </a:ext>
                </a:extLst>
              </p:cNvPr>
              <p:cNvPicPr/>
              <p:nvPr/>
            </p:nvPicPr>
            <p:blipFill>
              <a:blip r:embed="rId9"/>
              <a:stretch>
                <a:fillRect/>
              </a:stretch>
            </p:blipFill>
            <p:spPr>
              <a:xfrm>
                <a:off x="2738160" y="758232"/>
                <a:ext cx="182880" cy="340704"/>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 name="Ink 14">
                <a:extLst>
                  <a:ext uri="{FF2B5EF4-FFF2-40B4-BE49-F238E27FC236}">
                    <a16:creationId xmlns:a16="http://schemas.microsoft.com/office/drawing/2014/main" id="{DA4954AB-7AA6-D07E-B72B-071B959556E6}"/>
                  </a:ext>
                </a:extLst>
              </p14:cNvPr>
              <p14:cNvContentPartPr/>
              <p14:nvPr/>
            </p14:nvContentPartPr>
            <p14:xfrm>
              <a:off x="7266240" y="2888952"/>
              <a:ext cx="360" cy="360"/>
            </p14:xfrm>
          </p:contentPart>
        </mc:Choice>
        <mc:Fallback xmlns="">
          <p:pic>
            <p:nvPicPr>
              <p:cNvPr id="15" name="Ink 14">
                <a:extLst>
                  <a:ext uri="{FF2B5EF4-FFF2-40B4-BE49-F238E27FC236}">
                    <a16:creationId xmlns:a16="http://schemas.microsoft.com/office/drawing/2014/main" id="{DA4954AB-7AA6-D07E-B72B-071B959556E6}"/>
                  </a:ext>
                </a:extLst>
              </p:cNvPr>
              <p:cNvPicPr/>
              <p:nvPr/>
            </p:nvPicPr>
            <p:blipFill>
              <a:blip r:embed="rId5"/>
              <a:stretch>
                <a:fillRect/>
              </a:stretch>
            </p:blipFill>
            <p:spPr>
              <a:xfrm>
                <a:off x="7176240" y="2708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6" name="Ink 15">
                <a:extLst>
                  <a:ext uri="{FF2B5EF4-FFF2-40B4-BE49-F238E27FC236}">
                    <a16:creationId xmlns:a16="http://schemas.microsoft.com/office/drawing/2014/main" id="{4C9430D9-2989-125F-94DC-1DA2D66BDD55}"/>
                  </a:ext>
                </a:extLst>
              </p14:cNvPr>
              <p14:cNvContentPartPr/>
              <p14:nvPr/>
            </p14:nvContentPartPr>
            <p14:xfrm>
              <a:off x="7266240" y="2888952"/>
              <a:ext cx="360" cy="360"/>
            </p14:xfrm>
          </p:contentPart>
        </mc:Choice>
        <mc:Fallback xmlns="">
          <p:pic>
            <p:nvPicPr>
              <p:cNvPr id="16" name="Ink 15">
                <a:extLst>
                  <a:ext uri="{FF2B5EF4-FFF2-40B4-BE49-F238E27FC236}">
                    <a16:creationId xmlns:a16="http://schemas.microsoft.com/office/drawing/2014/main" id="{4C9430D9-2989-125F-94DC-1DA2D66BDD55}"/>
                  </a:ext>
                </a:extLst>
              </p:cNvPr>
              <p:cNvPicPr/>
              <p:nvPr/>
            </p:nvPicPr>
            <p:blipFill>
              <a:blip r:embed="rId5"/>
              <a:stretch>
                <a:fillRect/>
              </a:stretch>
            </p:blipFill>
            <p:spPr>
              <a:xfrm>
                <a:off x="7176240" y="2708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7" name="Ink 16">
                <a:extLst>
                  <a:ext uri="{FF2B5EF4-FFF2-40B4-BE49-F238E27FC236}">
                    <a16:creationId xmlns:a16="http://schemas.microsoft.com/office/drawing/2014/main" id="{009380E8-5542-6CEB-DEF5-1F0E98FBDFC2}"/>
                  </a:ext>
                </a:extLst>
              </p14:cNvPr>
              <p14:cNvContentPartPr/>
              <p14:nvPr/>
            </p14:nvContentPartPr>
            <p14:xfrm>
              <a:off x="7266240" y="2888952"/>
              <a:ext cx="360" cy="360"/>
            </p14:xfrm>
          </p:contentPart>
        </mc:Choice>
        <mc:Fallback xmlns="">
          <p:pic>
            <p:nvPicPr>
              <p:cNvPr id="17" name="Ink 16">
                <a:extLst>
                  <a:ext uri="{FF2B5EF4-FFF2-40B4-BE49-F238E27FC236}">
                    <a16:creationId xmlns:a16="http://schemas.microsoft.com/office/drawing/2014/main" id="{009380E8-5542-6CEB-DEF5-1F0E98FBDFC2}"/>
                  </a:ext>
                </a:extLst>
              </p:cNvPr>
              <p:cNvPicPr/>
              <p:nvPr/>
            </p:nvPicPr>
            <p:blipFill>
              <a:blip r:embed="rId5"/>
              <a:stretch>
                <a:fillRect/>
              </a:stretch>
            </p:blipFill>
            <p:spPr>
              <a:xfrm>
                <a:off x="7176240" y="2708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8" name="Ink 17">
                <a:extLst>
                  <a:ext uri="{FF2B5EF4-FFF2-40B4-BE49-F238E27FC236}">
                    <a16:creationId xmlns:a16="http://schemas.microsoft.com/office/drawing/2014/main" id="{73A9B50E-8658-465E-AEAA-D97CD87BB40D}"/>
                  </a:ext>
                </a:extLst>
              </p14:cNvPr>
              <p14:cNvContentPartPr/>
              <p14:nvPr/>
            </p14:nvContentPartPr>
            <p14:xfrm>
              <a:off x="7266240" y="2888952"/>
              <a:ext cx="360" cy="360"/>
            </p14:xfrm>
          </p:contentPart>
        </mc:Choice>
        <mc:Fallback xmlns="">
          <p:pic>
            <p:nvPicPr>
              <p:cNvPr id="18" name="Ink 17">
                <a:extLst>
                  <a:ext uri="{FF2B5EF4-FFF2-40B4-BE49-F238E27FC236}">
                    <a16:creationId xmlns:a16="http://schemas.microsoft.com/office/drawing/2014/main" id="{73A9B50E-8658-465E-AEAA-D97CD87BB40D}"/>
                  </a:ext>
                </a:extLst>
              </p:cNvPr>
              <p:cNvPicPr/>
              <p:nvPr/>
            </p:nvPicPr>
            <p:blipFill>
              <a:blip r:embed="rId5"/>
              <a:stretch>
                <a:fillRect/>
              </a:stretch>
            </p:blipFill>
            <p:spPr>
              <a:xfrm>
                <a:off x="7176240" y="2708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9" name="Ink 18">
                <a:extLst>
                  <a:ext uri="{FF2B5EF4-FFF2-40B4-BE49-F238E27FC236}">
                    <a16:creationId xmlns:a16="http://schemas.microsoft.com/office/drawing/2014/main" id="{329C95BA-F81E-F99B-4BF2-F62AECFA21A6}"/>
                  </a:ext>
                </a:extLst>
              </p14:cNvPr>
              <p14:cNvContentPartPr/>
              <p14:nvPr/>
            </p14:nvContentPartPr>
            <p14:xfrm>
              <a:off x="6680880" y="2877072"/>
              <a:ext cx="360" cy="360"/>
            </p14:xfrm>
          </p:contentPart>
        </mc:Choice>
        <mc:Fallback xmlns="">
          <p:pic>
            <p:nvPicPr>
              <p:cNvPr id="19" name="Ink 18">
                <a:extLst>
                  <a:ext uri="{FF2B5EF4-FFF2-40B4-BE49-F238E27FC236}">
                    <a16:creationId xmlns:a16="http://schemas.microsoft.com/office/drawing/2014/main" id="{329C95BA-F81E-F99B-4BF2-F62AECFA21A6}"/>
                  </a:ext>
                </a:extLst>
              </p:cNvPr>
              <p:cNvPicPr/>
              <p:nvPr/>
            </p:nvPicPr>
            <p:blipFill>
              <a:blip r:embed="rId5"/>
              <a:stretch>
                <a:fillRect/>
              </a:stretch>
            </p:blipFill>
            <p:spPr>
              <a:xfrm>
                <a:off x="6590880" y="2697072"/>
                <a:ext cx="180000" cy="360000"/>
              </a:xfrm>
              <a:prstGeom prst="rect">
                <a:avLst/>
              </a:prstGeom>
            </p:spPr>
          </p:pic>
        </mc:Fallback>
      </mc:AlternateContent>
    </p:spTree>
    <p:custDataLst>
      <p:tags r:id="rId1"/>
    </p:custDataLst>
    <p:extLst>
      <p:ext uri="{BB962C8B-B14F-4D97-AF65-F5344CB8AC3E}">
        <p14:creationId xmlns:p14="http://schemas.microsoft.com/office/powerpoint/2010/main" val="14532411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48DC5-8A48-2A34-31B9-FC8CB168CAED}"/>
              </a:ext>
            </a:extLst>
          </p:cNvPr>
          <p:cNvSpPr>
            <a:spLocks noGrp="1"/>
          </p:cNvSpPr>
          <p:nvPr>
            <p:ph type="title"/>
          </p:nvPr>
        </p:nvSpPr>
        <p:spPr>
          <a:xfrm>
            <a:off x="733926" y="304965"/>
            <a:ext cx="8565109" cy="1325563"/>
          </a:xfrm>
        </p:spPr>
        <p:txBody>
          <a:bodyPr anchor="ctr">
            <a:normAutofit/>
          </a:bodyPr>
          <a:lstStyle/>
          <a:p>
            <a:r>
              <a:rPr lang="en-US" dirty="0"/>
              <a:t>EXECUTIVE SUMMARY</a:t>
            </a:r>
          </a:p>
        </p:txBody>
      </p:sp>
      <p:sp>
        <p:nvSpPr>
          <p:cNvPr id="3" name="Content Placeholder 2">
            <a:extLst>
              <a:ext uri="{FF2B5EF4-FFF2-40B4-BE49-F238E27FC236}">
                <a16:creationId xmlns:a16="http://schemas.microsoft.com/office/drawing/2014/main" id="{06B44109-938A-7A63-C3A8-FDDB5C799EA5}"/>
              </a:ext>
            </a:extLst>
          </p:cNvPr>
          <p:cNvSpPr txBox="1">
            <a:spLocks/>
          </p:cNvSpPr>
          <p:nvPr/>
        </p:nvSpPr>
        <p:spPr>
          <a:xfrm>
            <a:off x="4285075" y="1825624"/>
            <a:ext cx="7068725" cy="44654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16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Key Findings Highlights</a:t>
            </a:r>
            <a:r>
              <a:rPr kumimoji="0" lang="en-US" sz="16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2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Current Top 10 Programming Language Preference</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83% of respondents are satisfied with the HTML/CSS, JavaScript and TypeScript, while 10% more respondents are eager to learn SQL and C#.</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2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Database Top 10 Preferences</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a:t>
            </a:r>
            <a:r>
              <a:rPr lang="en-US" sz="1200" dirty="0"/>
              <a:t>Over 90% of respondents prefer to work with PostgreSQL, and the preference is similar for those who want to use a database.</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05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Platform Top 10 Preferences</a:t>
            </a:r>
            <a:r>
              <a:rPr kumimoji="0" lang="en-US" sz="105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a:t>
            </a:r>
            <a:r>
              <a:rPr lang="en-US" sz="1050" dirty="0"/>
              <a:t>Most of respondents prefer to work with AWS and then with Azure, and the preference is similar for those who want to use a platform.</a:t>
            </a:r>
          </a:p>
          <a:p>
            <a:pPr lvl="1">
              <a:buFont typeface="Arial" panose="020B0604020202020204" pitchFamily="34" charset="0"/>
              <a:buChar char="•"/>
              <a:defRPr/>
            </a:pPr>
            <a:r>
              <a:rPr kumimoji="0" lang="en-US" sz="1050" b="1" i="0" u="none" strike="noStrike" kern="1200" cap="none" spc="0" normalizeH="0" baseline="0" noProof="0" dirty="0" err="1">
                <a:ln>
                  <a:noFill/>
                </a:ln>
                <a:solidFill>
                  <a:srgbClr val="262626"/>
                </a:solidFill>
                <a:effectLst/>
                <a:uLnTx/>
                <a:uFillTx/>
                <a:latin typeface="IBM Plex Sans" panose="020B0503050203000203" pitchFamily="34" charset="0"/>
                <a:ea typeface="+mn-ea"/>
                <a:cs typeface="+mn-cs"/>
              </a:rPr>
              <a:t>WebFrame</a:t>
            </a:r>
            <a:r>
              <a:rPr kumimoji="0" lang="en-US" sz="105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Top 10 Preferences</a:t>
            </a:r>
            <a:r>
              <a:rPr kumimoji="0" lang="en-US" sz="105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a:t>
            </a:r>
            <a:r>
              <a:rPr lang="en-US" sz="1050" dirty="0"/>
              <a:t>Most of respondents prefer to work with Spring Boot and then with React, and the preference is similar for those who want to use a </a:t>
            </a:r>
            <a:r>
              <a:rPr lang="en-US" sz="1050" dirty="0" err="1"/>
              <a:t>WebFrame</a:t>
            </a:r>
            <a:r>
              <a:rPr lang="en-US" sz="1050" dirty="0"/>
              <a: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lang="en-US" sz="1200" b="1" dirty="0"/>
              <a:t>Overall Respondents</a:t>
            </a:r>
            <a:r>
              <a:rPr kumimoji="0" lang="en-US" sz="12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Perception</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a:t>
            </a:r>
            <a:r>
              <a:rPr lang="en-US" sz="1200" dirty="0"/>
              <a:t>It appears that most respondents are from the USA, with nearly 70% aged between 25 and 44 years. Most of them hold an associate's or master's degree.</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16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Survey Scope and Objectives</a:t>
            </a:r>
            <a:r>
              <a:rPr kumimoji="0" lang="en-US" sz="16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2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Scope</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This survey was conducted globally across multiple countries, with a sample size of 18K+ respondents from different industries, including retail, finance, </a:t>
            </a:r>
            <a:r>
              <a:rPr kumimoji="0" lang="en-US" sz="1200" b="0" i="0" u="none" strike="noStrike" kern="1200" cap="none" spc="0" normalizeH="0" baseline="0" noProof="0" dirty="0" err="1">
                <a:ln>
                  <a:noFill/>
                </a:ln>
                <a:solidFill>
                  <a:srgbClr val="262626"/>
                </a:solidFill>
                <a:effectLst/>
                <a:uLnTx/>
                <a:uFillTx/>
                <a:latin typeface="IBM Plex Sans" panose="020B0503050203000203" pitchFamily="34" charset="0"/>
                <a:ea typeface="+mn-ea"/>
                <a:cs typeface="+mn-cs"/>
              </a:rPr>
              <a:t>Helthcare</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and technology.</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2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Objectives</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a:t>
            </a:r>
            <a:r>
              <a:rPr lang="en-US" sz="1200" dirty="0"/>
              <a:t>The primary aim was to measure which platform, language, web framework, and overall respondent engagement were involved in the survey.</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2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Methodology</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The survey was administered via online questionnaires and supplemented with in-depth interviews.</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16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Impact Metrics</a:t>
            </a:r>
            <a:r>
              <a:rPr kumimoji="0" lang="en-US" sz="16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lang="en-US" sz="1200" b="1" dirty="0"/>
              <a:t>Respondents</a:t>
            </a:r>
            <a:r>
              <a:rPr kumimoji="0" lang="en-US" sz="12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Engagement</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a:t>
            </a:r>
            <a:r>
              <a:rPr lang="en-US" sz="1200" dirty="0"/>
              <a:t>Respondents' interest appears to be the same for both current and future tools.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200" b="1"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Actionable Insights</a:t>
            </a:r>
            <a:r>
              <a:rPr kumimoji="0" lang="en-US" sz="1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a:t>
            </a:r>
            <a:r>
              <a:rPr lang="en-US" sz="1200" dirty="0"/>
              <a:t>The analysis shows that further investment in cloud technology and support for higher education opportunities will lead to greater success for respondents.</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endPar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endParaRPr>
          </a:p>
        </p:txBody>
      </p:sp>
      <p:pic>
        <p:nvPicPr>
          <p:cNvPr id="7" name="Picture 6">
            <a:extLst>
              <a:ext uri="{FF2B5EF4-FFF2-40B4-BE49-F238E27FC236}">
                <a16:creationId xmlns:a16="http://schemas.microsoft.com/office/drawing/2014/main" id="{DA6795A9-FE70-B337-8B17-B79ACA60A9C1}"/>
              </a:ext>
            </a:extLst>
          </p:cNvPr>
          <p:cNvPicPr>
            <a:picLocks noChangeAspect="1"/>
          </p:cNvPicPr>
          <p:nvPr/>
        </p:nvPicPr>
        <p:blipFill>
          <a:blip r:embed="rId3"/>
          <a:stretch>
            <a:fillRect/>
          </a:stretch>
        </p:blipFill>
        <p:spPr>
          <a:xfrm>
            <a:off x="1090494" y="2302762"/>
            <a:ext cx="3194581" cy="3194581"/>
          </a:xfrm>
          <a:prstGeom prst="rect">
            <a:avLst/>
          </a:prstGeom>
        </p:spPr>
      </p:pic>
    </p:spTree>
    <p:custDataLst>
      <p:tags r:id="rId1"/>
    </p:custDataLst>
    <p:extLst>
      <p:ext uri="{BB962C8B-B14F-4D97-AF65-F5344CB8AC3E}">
        <p14:creationId xmlns:p14="http://schemas.microsoft.com/office/powerpoint/2010/main" val="1555385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6FB0-8465-86A8-332A-32CC35A5D2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B7DC8D-244C-F7EC-5F66-ACB99A7D61C9}"/>
              </a:ext>
            </a:extLst>
          </p:cNvPr>
          <p:cNvSpPr>
            <a:spLocks noGrp="1"/>
          </p:cNvSpPr>
          <p:nvPr>
            <p:ph type="title"/>
          </p:nvPr>
        </p:nvSpPr>
        <p:spPr>
          <a:xfrm>
            <a:off x="770021" y="365125"/>
            <a:ext cx="7647865" cy="1325563"/>
          </a:xfrm>
        </p:spPr>
        <p:txBody>
          <a:bodyPr anchor="ctr">
            <a:normAutofit/>
          </a:bodyPr>
          <a:lstStyle/>
          <a:p>
            <a:r>
              <a:rPr lang="en-US" dirty="0"/>
              <a:t>INTRODUCTION</a:t>
            </a:r>
          </a:p>
        </p:txBody>
      </p:sp>
      <p:pic>
        <p:nvPicPr>
          <p:cNvPr id="3" name="Picture 2">
            <a:extLst>
              <a:ext uri="{FF2B5EF4-FFF2-40B4-BE49-F238E27FC236}">
                <a16:creationId xmlns:a16="http://schemas.microsoft.com/office/drawing/2014/main" id="{BBCC879F-E713-B75A-D2DE-0953EB0EA469}"/>
              </a:ext>
            </a:extLst>
          </p:cNvPr>
          <p:cNvPicPr>
            <a:picLocks noChangeAspect="1"/>
          </p:cNvPicPr>
          <p:nvPr/>
        </p:nvPicPr>
        <p:blipFill>
          <a:blip r:embed="rId3"/>
          <a:stretch>
            <a:fillRect/>
          </a:stretch>
        </p:blipFill>
        <p:spPr>
          <a:xfrm>
            <a:off x="994347" y="2262036"/>
            <a:ext cx="3054361" cy="3054361"/>
          </a:xfrm>
          <a:prstGeom prst="rect">
            <a:avLst/>
          </a:prstGeom>
        </p:spPr>
      </p:pic>
      <p:sp>
        <p:nvSpPr>
          <p:cNvPr id="4" name="Content Placeholder 2">
            <a:extLst>
              <a:ext uri="{FF2B5EF4-FFF2-40B4-BE49-F238E27FC236}">
                <a16:creationId xmlns:a16="http://schemas.microsoft.com/office/drawing/2014/main" id="{ED35578F-30C9-4905-FD4E-7366FEFAEA7F}"/>
              </a:ext>
            </a:extLst>
          </p:cNvPr>
          <p:cNvSpPr txBox="1">
            <a:spLocks/>
          </p:cNvSpPr>
          <p:nvPr/>
        </p:nvSpPr>
        <p:spPr>
          <a:xfrm>
            <a:off x="4285075" y="1825625"/>
            <a:ext cx="706872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lang="en-US" sz="1600" b="0" i="0" dirty="0">
                <a:solidFill>
                  <a:srgbClr val="343A4D"/>
                </a:solidFill>
                <a:effectLst/>
                <a:latin typeface="Monaco"/>
              </a:rPr>
              <a:t>Systematic Collection of Data from Targeted Respondents </a:t>
            </a:r>
          </a:p>
          <a:p>
            <a:pPr lvl="1">
              <a:spcBef>
                <a:spcPts val="1000"/>
              </a:spcBef>
            </a:pPr>
            <a:r>
              <a:rPr lang="en-US" sz="1200" b="0" i="0" dirty="0">
                <a:solidFill>
                  <a:srgbClr val="343A4D"/>
                </a:solidFill>
                <a:effectLst/>
                <a:latin typeface="Monaco"/>
              </a:rPr>
              <a:t>Structured approach using standardized questions and methods. </a:t>
            </a:r>
          </a:p>
          <a:p>
            <a:pPr lvl="1">
              <a:spcBef>
                <a:spcPts val="1000"/>
              </a:spcBef>
            </a:pPr>
            <a:r>
              <a:rPr lang="en-US" sz="1200" b="0" i="0" dirty="0">
                <a:solidFill>
                  <a:srgbClr val="343A4D"/>
                </a:solidFill>
                <a:effectLst/>
                <a:latin typeface="Monaco"/>
              </a:rPr>
              <a:t>Carefully selected respondent groups based on demographic criteria. </a:t>
            </a:r>
          </a:p>
          <a:p>
            <a:pPr lvl="1">
              <a:spcBef>
                <a:spcPts val="1000"/>
              </a:spcBef>
            </a:pPr>
            <a:r>
              <a:rPr lang="en-US" sz="1200" b="0" i="0" dirty="0">
                <a:solidFill>
                  <a:srgbClr val="343A4D"/>
                </a:solidFill>
                <a:effectLst/>
                <a:latin typeface="Monaco"/>
              </a:rPr>
              <a:t>Organized data gathering process with defined timelines. </a:t>
            </a:r>
          </a:p>
          <a:p>
            <a:pPr lvl="1">
              <a:spcBef>
                <a:spcPts val="1000"/>
              </a:spcBef>
            </a:pPr>
            <a:r>
              <a:rPr lang="en-US" sz="1200" b="0" i="0" dirty="0">
                <a:solidFill>
                  <a:srgbClr val="343A4D"/>
                </a:solidFill>
                <a:effectLst/>
                <a:latin typeface="Monaco"/>
              </a:rPr>
              <a:t>Quality control measures throughout collection phases. </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lang="en-US" sz="1600" b="0" i="0" dirty="0">
                <a:solidFill>
                  <a:srgbClr val="343A4D"/>
                </a:solidFill>
                <a:effectLst/>
                <a:latin typeface="Monaco"/>
              </a:rPr>
              <a:t>Primary Research Method for Gathering Direct Insights </a:t>
            </a:r>
          </a:p>
          <a:p>
            <a:pPr lvl="1">
              <a:spcBef>
                <a:spcPts val="1000"/>
              </a:spcBef>
            </a:pPr>
            <a:r>
              <a:rPr lang="en-US" sz="1200" b="0" i="0" dirty="0">
                <a:solidFill>
                  <a:srgbClr val="343A4D"/>
                </a:solidFill>
                <a:effectLst/>
                <a:latin typeface="Monaco"/>
              </a:rPr>
              <a:t>First-hand information from actual users/customers. </a:t>
            </a:r>
          </a:p>
          <a:p>
            <a:pPr lvl="1">
              <a:spcBef>
                <a:spcPts val="1000"/>
              </a:spcBef>
            </a:pPr>
            <a:r>
              <a:rPr lang="en-US" sz="1200" b="0" i="0" dirty="0">
                <a:solidFill>
                  <a:srgbClr val="343A4D"/>
                </a:solidFill>
                <a:effectLst/>
                <a:latin typeface="Monaco"/>
              </a:rPr>
              <a:t>Unfiltered feedback from target audience. </a:t>
            </a:r>
          </a:p>
          <a:p>
            <a:pPr lvl="1">
              <a:spcBef>
                <a:spcPts val="1000"/>
              </a:spcBef>
            </a:pPr>
            <a:r>
              <a:rPr lang="en-US" sz="1200" b="0" i="0" dirty="0">
                <a:solidFill>
                  <a:srgbClr val="343A4D"/>
                </a:solidFill>
                <a:effectLst/>
                <a:latin typeface="Monaco"/>
              </a:rPr>
              <a:t>Direct measurement of respondent interest.</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lang="en-US" sz="1600" b="0" i="0" dirty="0">
                <a:solidFill>
                  <a:srgbClr val="343A4D"/>
                </a:solidFill>
                <a:effectLst/>
                <a:latin typeface="Monaco"/>
              </a:rPr>
              <a:t>Tool for Evidence-Based Decision Making </a:t>
            </a:r>
          </a:p>
          <a:p>
            <a:pPr lvl="1"/>
            <a:r>
              <a:rPr lang="en-US" sz="1200" dirty="0">
                <a:solidFill>
                  <a:srgbClr val="343A4D"/>
                </a:solidFill>
                <a:latin typeface="Monaco"/>
              </a:rPr>
              <a:t>Quantifiable metrics for platform and language usage.</a:t>
            </a:r>
          </a:p>
          <a:p>
            <a:pPr lvl="1"/>
            <a:r>
              <a:rPr lang="en-US" sz="1200" dirty="0">
                <a:solidFill>
                  <a:srgbClr val="343A4D"/>
                </a:solidFill>
                <a:latin typeface="Monaco"/>
              </a:rPr>
              <a:t>Statistical validation of age and education levels.</a:t>
            </a:r>
          </a:p>
          <a:p>
            <a:pPr lvl="1"/>
            <a:r>
              <a:rPr lang="en-US" sz="1200" dirty="0">
                <a:solidFill>
                  <a:srgbClr val="343A4D"/>
                </a:solidFill>
                <a:latin typeface="Monaco"/>
              </a:rPr>
              <a:t>Data-driven approach to analyze current vs. future IT tools usage.</a:t>
            </a:r>
          </a:p>
          <a:p>
            <a:pPr lvl="1"/>
            <a:r>
              <a:rPr lang="en-US" sz="1200" dirty="0">
                <a:solidFill>
                  <a:srgbClr val="343A4D"/>
                </a:solidFill>
                <a:latin typeface="Monaco"/>
              </a:rPr>
              <a:t>Measurable outcomes for ROI calculations, enabling institutions to focus on platforms, programming languages, databases, age, and education levels.</a:t>
            </a:r>
          </a:p>
          <a:p>
            <a:pPr marL="0" marR="0" lvl="0" indent="0" algn="l" defTabSz="914400" rtl="0" eaLnBrk="1" fontAlgn="auto" latinLnBrk="0" hangingPunct="1">
              <a:lnSpc>
                <a:spcPct val="90000"/>
              </a:lnSpc>
              <a:spcBef>
                <a:spcPts val="1000"/>
              </a:spcBef>
              <a:spcAft>
                <a:spcPts val="0"/>
              </a:spcAft>
              <a:buClrTx/>
              <a:buSzTx/>
              <a:buNone/>
              <a:tabLst/>
              <a:defRPr/>
            </a:pPr>
            <a:endParaRPr lang="en-US" sz="1600" b="0" i="0" dirty="0">
              <a:solidFill>
                <a:srgbClr val="343A4D"/>
              </a:solidFill>
              <a:effectLst/>
              <a:latin typeface="Monaco"/>
            </a:endParaRPr>
          </a:p>
        </p:txBody>
      </p:sp>
    </p:spTree>
    <p:custDataLst>
      <p:tags r:id="rId1"/>
    </p:custDataLst>
    <p:extLst>
      <p:ext uri="{BB962C8B-B14F-4D97-AF65-F5344CB8AC3E}">
        <p14:creationId xmlns:p14="http://schemas.microsoft.com/office/powerpoint/2010/main" val="2040863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1DCFD-8450-17AD-05D4-229BA1C66C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5AB7E7-7534-10CB-A359-88015C285B97}"/>
              </a:ext>
            </a:extLst>
          </p:cNvPr>
          <p:cNvSpPr>
            <a:spLocks noGrp="1"/>
          </p:cNvSpPr>
          <p:nvPr>
            <p:ph type="title"/>
          </p:nvPr>
        </p:nvSpPr>
        <p:spPr>
          <a:xfrm>
            <a:off x="782053" y="376642"/>
            <a:ext cx="7230723" cy="1325563"/>
          </a:xfrm>
        </p:spPr>
        <p:txBody>
          <a:bodyPr anchor="ctr">
            <a:normAutofit/>
          </a:bodyPr>
          <a:lstStyle/>
          <a:p>
            <a:r>
              <a:rPr lang="en-US" dirty="0"/>
              <a:t>METHODOLOGY</a:t>
            </a:r>
          </a:p>
        </p:txBody>
      </p:sp>
      <p:sp>
        <p:nvSpPr>
          <p:cNvPr id="3" name="Content Placeholder 2">
            <a:extLst>
              <a:ext uri="{FF2B5EF4-FFF2-40B4-BE49-F238E27FC236}">
                <a16:creationId xmlns:a16="http://schemas.microsoft.com/office/drawing/2014/main" id="{5EF8C842-232A-AE37-3471-90353781809D}"/>
              </a:ext>
            </a:extLst>
          </p:cNvPr>
          <p:cNvSpPr txBox="1">
            <a:spLocks/>
          </p:cNvSpPr>
          <p:nvPr/>
        </p:nvSpPr>
        <p:spPr>
          <a:xfrm>
            <a:off x="4285075" y="1825625"/>
            <a:ext cx="7068725"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200" dirty="0">
                <a:solidFill>
                  <a:srgbClr val="343A4D"/>
                </a:solidFill>
                <a:latin typeface="Monaco"/>
              </a:rPr>
              <a:t>Research Design </a:t>
            </a:r>
          </a:p>
          <a:p>
            <a:pPr lvl="1">
              <a:spcBef>
                <a:spcPts val="1000"/>
              </a:spcBef>
            </a:pPr>
            <a:r>
              <a:rPr lang="en-US" sz="1200" dirty="0">
                <a:solidFill>
                  <a:srgbClr val="343A4D"/>
                </a:solidFill>
                <a:latin typeface="Monaco"/>
              </a:rPr>
              <a:t>Selection of survey type (descriptive, exploratory, causal) </a:t>
            </a:r>
          </a:p>
          <a:p>
            <a:pPr lvl="1">
              <a:spcBef>
                <a:spcPts val="1000"/>
              </a:spcBef>
            </a:pPr>
            <a:r>
              <a:rPr lang="en-US" sz="1200" dirty="0">
                <a:solidFill>
                  <a:srgbClr val="343A4D"/>
                </a:solidFill>
                <a:latin typeface="Monaco"/>
              </a:rPr>
              <a:t>Determination of data collection frequency </a:t>
            </a:r>
          </a:p>
          <a:p>
            <a:pPr lvl="1">
              <a:spcBef>
                <a:spcPts val="1000"/>
              </a:spcBef>
            </a:pPr>
            <a:r>
              <a:rPr lang="en-US" sz="1200" dirty="0">
                <a:solidFill>
                  <a:srgbClr val="343A4D"/>
                </a:solidFill>
                <a:latin typeface="Monaco"/>
              </a:rPr>
              <a:t>Setting measurement parameters </a:t>
            </a:r>
          </a:p>
          <a:p>
            <a:pPr lvl="1">
              <a:spcBef>
                <a:spcPts val="1000"/>
              </a:spcBef>
            </a:pPr>
            <a:r>
              <a:rPr lang="en-US" sz="1200" dirty="0">
                <a:solidFill>
                  <a:srgbClr val="343A4D"/>
                </a:solidFill>
                <a:latin typeface="Monaco"/>
              </a:rPr>
              <a:t>Establishing research timeline </a:t>
            </a:r>
          </a:p>
          <a:p>
            <a:r>
              <a:rPr lang="en-US" sz="1200" dirty="0">
                <a:solidFill>
                  <a:srgbClr val="343A4D"/>
                </a:solidFill>
                <a:latin typeface="Monaco"/>
              </a:rPr>
              <a:t>Sampling Framework </a:t>
            </a:r>
          </a:p>
          <a:p>
            <a:pPr lvl="1">
              <a:spcBef>
                <a:spcPts val="1000"/>
              </a:spcBef>
            </a:pPr>
            <a:r>
              <a:rPr lang="en-US" sz="1200" dirty="0">
                <a:solidFill>
                  <a:srgbClr val="343A4D"/>
                </a:solidFill>
                <a:latin typeface="Monaco"/>
              </a:rPr>
              <a:t>Geographic and demographic considerations </a:t>
            </a:r>
          </a:p>
          <a:p>
            <a:pPr lvl="1">
              <a:spcBef>
                <a:spcPts val="1000"/>
              </a:spcBef>
            </a:pPr>
            <a:r>
              <a:rPr lang="en-US" sz="1200" dirty="0">
                <a:solidFill>
                  <a:srgbClr val="343A4D"/>
                </a:solidFill>
                <a:latin typeface="Monaco"/>
              </a:rPr>
              <a:t>Target population identification </a:t>
            </a:r>
          </a:p>
          <a:p>
            <a:pPr lvl="1">
              <a:spcBef>
                <a:spcPts val="1000"/>
              </a:spcBef>
            </a:pPr>
            <a:r>
              <a:rPr lang="en-US" sz="1200" dirty="0">
                <a:solidFill>
                  <a:srgbClr val="343A4D"/>
                </a:solidFill>
                <a:latin typeface="Monaco"/>
              </a:rPr>
              <a:t>Inclusion/exclusion criteria</a:t>
            </a:r>
          </a:p>
          <a:p>
            <a:pPr lvl="1">
              <a:spcBef>
                <a:spcPts val="1000"/>
              </a:spcBef>
            </a:pPr>
            <a:r>
              <a:rPr lang="en-US" sz="1200" dirty="0">
                <a:solidFill>
                  <a:srgbClr val="343A4D"/>
                </a:solidFill>
                <a:latin typeface="Monaco"/>
              </a:rPr>
              <a:t>Sampling technique selection like  Random, Stratified, Cluster and Systematic sampling</a:t>
            </a:r>
          </a:p>
          <a:p>
            <a:r>
              <a:rPr lang="en-US" sz="1200" dirty="0">
                <a:solidFill>
                  <a:srgbClr val="343A4D"/>
                </a:solidFill>
                <a:latin typeface="Monaco"/>
              </a:rPr>
              <a:t>Data Collection Methods </a:t>
            </a:r>
          </a:p>
          <a:p>
            <a:pPr lvl="1">
              <a:spcBef>
                <a:spcPts val="1000"/>
              </a:spcBef>
            </a:pPr>
            <a:r>
              <a:rPr lang="en-US" sz="1200" dirty="0">
                <a:solidFill>
                  <a:srgbClr val="343A4D"/>
                </a:solidFill>
                <a:latin typeface="Monaco"/>
              </a:rPr>
              <a:t>Online surveys (web-based, email) , Telephone interviews (CATI) , Face-to-face interviews , Mobile surveys, Paper-based questionnaires  and Mixed-mode approaches</a:t>
            </a:r>
          </a:p>
          <a:p>
            <a:r>
              <a:rPr lang="en-US" sz="1200" dirty="0">
                <a:solidFill>
                  <a:srgbClr val="343A4D"/>
                </a:solidFill>
                <a:latin typeface="Monaco"/>
              </a:rPr>
              <a:t>Questionnaire Design </a:t>
            </a:r>
          </a:p>
          <a:p>
            <a:pPr lvl="1"/>
            <a:r>
              <a:rPr lang="en-US" sz="1200" dirty="0">
                <a:solidFill>
                  <a:srgbClr val="343A4D"/>
                </a:solidFill>
                <a:latin typeface="Monaco"/>
              </a:rPr>
              <a:t>Question types (multiple choice, Likert scale, open-ended), Response options formatting, Skip logic implementation and Pilot testing procedures</a:t>
            </a:r>
          </a:p>
          <a:p>
            <a:r>
              <a:rPr lang="en-US" sz="1200" dirty="0">
                <a:solidFill>
                  <a:srgbClr val="343A4D"/>
                </a:solidFill>
                <a:latin typeface="Monaco"/>
              </a:rPr>
              <a:t>Quality Control Measures </a:t>
            </a:r>
          </a:p>
          <a:p>
            <a:pPr lvl="1"/>
            <a:r>
              <a:rPr lang="en-US" sz="1200" dirty="0">
                <a:solidFill>
                  <a:srgbClr val="343A4D"/>
                </a:solidFill>
                <a:latin typeface="Monaco"/>
              </a:rPr>
              <a:t>Data validation techniques, Response verification processes, Duplicate entry prevention, Missing data handling and Data cleaning protocols</a:t>
            </a:r>
          </a:p>
          <a:p>
            <a:r>
              <a:rPr lang="en-US" sz="1200" dirty="0">
                <a:solidFill>
                  <a:srgbClr val="343A4D"/>
                </a:solidFill>
                <a:latin typeface="Monaco"/>
              </a:rPr>
              <a:t>Documentation Standards</a:t>
            </a:r>
          </a:p>
          <a:p>
            <a:pPr lvl="1"/>
            <a:r>
              <a:rPr lang="en-US" sz="1200" dirty="0">
                <a:solidFill>
                  <a:srgbClr val="343A4D"/>
                </a:solidFill>
                <a:latin typeface="Monaco"/>
              </a:rPr>
              <a:t>Methodology documentation, Variable definitions, Data dictionary and Analysis procedures</a:t>
            </a:r>
          </a:p>
        </p:txBody>
      </p:sp>
      <p:pic>
        <p:nvPicPr>
          <p:cNvPr id="4" name="Picture 3">
            <a:extLst>
              <a:ext uri="{FF2B5EF4-FFF2-40B4-BE49-F238E27FC236}">
                <a16:creationId xmlns:a16="http://schemas.microsoft.com/office/drawing/2014/main" id="{280CF71F-8A03-DAC7-4BC2-F05644ECBFFF}"/>
              </a:ext>
            </a:extLst>
          </p:cNvPr>
          <p:cNvPicPr>
            <a:picLocks noChangeAspect="1"/>
          </p:cNvPicPr>
          <p:nvPr/>
        </p:nvPicPr>
        <p:blipFill>
          <a:blip r:embed="rId3"/>
          <a:stretch>
            <a:fillRect/>
          </a:stretch>
        </p:blipFill>
        <p:spPr>
          <a:xfrm>
            <a:off x="979655" y="1831709"/>
            <a:ext cx="3194581" cy="3194581"/>
          </a:xfrm>
          <a:prstGeom prst="rect">
            <a:avLst/>
          </a:prstGeom>
        </p:spPr>
      </p:pic>
    </p:spTree>
    <p:custDataLst>
      <p:tags r:id="rId1"/>
    </p:custDataLst>
    <p:extLst>
      <p:ext uri="{BB962C8B-B14F-4D97-AF65-F5344CB8AC3E}">
        <p14:creationId xmlns:p14="http://schemas.microsoft.com/office/powerpoint/2010/main" val="37916925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3F900-F166-BEB7-F740-8C872536DC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210DC-B757-47AF-44F4-D6EC9F4BF93B}"/>
              </a:ext>
            </a:extLst>
          </p:cNvPr>
          <p:cNvSpPr>
            <a:spLocks noGrp="1"/>
          </p:cNvSpPr>
          <p:nvPr>
            <p:ph type="title"/>
          </p:nvPr>
        </p:nvSpPr>
        <p:spPr>
          <a:xfrm>
            <a:off x="838200" y="365125"/>
            <a:ext cx="10515600" cy="1325563"/>
          </a:xfrm>
        </p:spPr>
        <p:txBody>
          <a:bodyPr anchor="ctr">
            <a:normAutofit/>
          </a:bodyPr>
          <a:lstStyle/>
          <a:p>
            <a:r>
              <a:rPr lang="en-US" dirty="0"/>
              <a:t>RESULTS</a:t>
            </a:r>
          </a:p>
        </p:txBody>
      </p:sp>
      <p:sp>
        <p:nvSpPr>
          <p:cNvPr id="3" name="Content Placeholder 2">
            <a:extLst>
              <a:ext uri="{FF2B5EF4-FFF2-40B4-BE49-F238E27FC236}">
                <a16:creationId xmlns:a16="http://schemas.microsoft.com/office/drawing/2014/main" id="{27E1D05E-A3D3-356F-EB51-94E7A1AE2A61}"/>
              </a:ext>
            </a:extLst>
          </p:cNvPr>
          <p:cNvSpPr txBox="1">
            <a:spLocks/>
          </p:cNvSpPr>
          <p:nvPr/>
        </p:nvSpPr>
        <p:spPr>
          <a:xfrm>
            <a:off x="1043114" y="1825625"/>
            <a:ext cx="706872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1800" b="0" i="0" u="none" strike="noStrike" kern="1200" cap="none" spc="0" normalizeH="0" baseline="0" noProof="0">
              <a:ln>
                <a:noFill/>
              </a:ln>
              <a:solidFill>
                <a:srgbClr val="262626"/>
              </a:solidFill>
              <a:effectLst/>
              <a:uLnTx/>
              <a:uFillTx/>
              <a:latin typeface="IBM Plex Sans" panose="020B0503050203000203" pitchFamily="34"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1800" b="0" i="0" u="none" strike="noStrike" kern="1200" cap="none" spc="0" normalizeH="0" baseline="0" noProof="0">
              <a:ln>
                <a:noFill/>
              </a:ln>
              <a:solidFill>
                <a:srgbClr val="262626"/>
              </a:solidFill>
              <a:effectLst/>
              <a:uLnTx/>
              <a:uFillTx/>
              <a:latin typeface="IBM Plex Sans" panose="020B0503050203000203" pitchFamily="34"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18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endParaRPr>
          </a:p>
        </p:txBody>
      </p:sp>
      <p:pic>
        <p:nvPicPr>
          <p:cNvPr id="5" name="Picture 4">
            <a:extLst>
              <a:ext uri="{FF2B5EF4-FFF2-40B4-BE49-F238E27FC236}">
                <a16:creationId xmlns:a16="http://schemas.microsoft.com/office/drawing/2014/main" id="{A142B3B8-EE88-6745-2708-3EE45416E5D8}"/>
              </a:ext>
            </a:extLst>
          </p:cNvPr>
          <p:cNvPicPr>
            <a:picLocks noChangeAspect="1"/>
          </p:cNvPicPr>
          <p:nvPr/>
        </p:nvPicPr>
        <p:blipFill>
          <a:blip r:embed="rId3"/>
          <a:stretch>
            <a:fillRect/>
          </a:stretch>
        </p:blipFill>
        <p:spPr>
          <a:xfrm>
            <a:off x="500387" y="1397357"/>
            <a:ext cx="7379079" cy="4561891"/>
          </a:xfrm>
          <a:prstGeom prst="rect">
            <a:avLst/>
          </a:prstGeom>
        </p:spPr>
      </p:pic>
      <p:sp>
        <p:nvSpPr>
          <p:cNvPr id="6" name="Content Placeholder 3">
            <a:extLst>
              <a:ext uri="{FF2B5EF4-FFF2-40B4-BE49-F238E27FC236}">
                <a16:creationId xmlns:a16="http://schemas.microsoft.com/office/drawing/2014/main" id="{8AA973D8-4C86-8689-8650-160EA9D4012C}"/>
              </a:ext>
            </a:extLst>
          </p:cNvPr>
          <p:cNvSpPr txBox="1">
            <a:spLocks/>
          </p:cNvSpPr>
          <p:nvPr/>
        </p:nvSpPr>
        <p:spPr>
          <a:xfrm>
            <a:off x="7952703" y="1397357"/>
            <a:ext cx="4127679" cy="477960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US" dirty="0"/>
              <a:t>Overall, it appears that respondents aged 24 to 35 with a bachelor's or master's degree share similar interests in programming languages, as shown in the line graph.</a:t>
            </a:r>
          </a:p>
        </p:txBody>
      </p:sp>
    </p:spTree>
    <p:custDataLst>
      <p:tags r:id="rId1"/>
    </p:custDataLst>
    <p:extLst>
      <p:ext uri="{BB962C8B-B14F-4D97-AF65-F5344CB8AC3E}">
        <p14:creationId xmlns:p14="http://schemas.microsoft.com/office/powerpoint/2010/main" val="2215908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27A2E-C667-F6D3-A1E3-47F70603EAB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39A591-4DF0-3912-FF72-3FD0BD7B9C1F}"/>
              </a:ext>
            </a:extLst>
          </p:cNvPr>
          <p:cNvSpPr>
            <a:spLocks noGrp="1"/>
          </p:cNvSpPr>
          <p:nvPr>
            <p:ph type="title"/>
          </p:nvPr>
        </p:nvSpPr>
        <p:spPr>
          <a:xfrm>
            <a:off x="838200" y="365125"/>
            <a:ext cx="10515600" cy="1325563"/>
          </a:xfrm>
        </p:spPr>
        <p:txBody>
          <a:bodyPr/>
          <a:lstStyle/>
          <a:p>
            <a:r>
              <a:rPr lang="en-US" dirty="0"/>
              <a:t>PROGRAMMING LANGUAGE TRENDS</a:t>
            </a:r>
          </a:p>
        </p:txBody>
      </p:sp>
      <p:sp>
        <p:nvSpPr>
          <p:cNvPr id="8" name="Content Placeholder 2">
            <a:extLst>
              <a:ext uri="{FF2B5EF4-FFF2-40B4-BE49-F238E27FC236}">
                <a16:creationId xmlns:a16="http://schemas.microsoft.com/office/drawing/2014/main" id="{54B8C8AD-F58A-1F17-9CA2-E737E1949923}"/>
              </a:ext>
            </a:extLst>
          </p:cNvPr>
          <p:cNvSpPr>
            <a:spLocks noGrp="1"/>
          </p:cNvSpPr>
          <p:nvPr>
            <p:ph sz="half" idx="1"/>
          </p:nvPr>
        </p:nvSpPr>
        <p:spPr>
          <a:xfrm>
            <a:off x="813816" y="1825625"/>
            <a:ext cx="2228642" cy="501939"/>
          </a:xfrm>
        </p:spPr>
        <p:txBody>
          <a:bodyPr/>
          <a:lstStyle/>
          <a:p>
            <a:pPr marL="0" indent="0">
              <a:buNone/>
            </a:pPr>
            <a:r>
              <a:rPr lang="en-US" dirty="0"/>
              <a:t>Current Year</a:t>
            </a:r>
          </a:p>
        </p:txBody>
      </p:sp>
      <p:sp>
        <p:nvSpPr>
          <p:cNvPr id="9" name="Content Placeholder 3">
            <a:extLst>
              <a:ext uri="{FF2B5EF4-FFF2-40B4-BE49-F238E27FC236}">
                <a16:creationId xmlns:a16="http://schemas.microsoft.com/office/drawing/2014/main" id="{D9FB3B79-D3E9-99FC-ECF2-28CCBF64752F}"/>
              </a:ext>
            </a:extLst>
          </p:cNvPr>
          <p:cNvSpPr>
            <a:spLocks noGrp="1"/>
          </p:cNvSpPr>
          <p:nvPr>
            <p:ph sz="half" idx="2"/>
          </p:nvPr>
        </p:nvSpPr>
        <p:spPr>
          <a:xfrm>
            <a:off x="6172200" y="1825625"/>
            <a:ext cx="1758142" cy="501939"/>
          </a:xfrm>
        </p:spPr>
        <p:txBody>
          <a:bodyPr/>
          <a:lstStyle/>
          <a:p>
            <a:pPr marL="0" indent="0">
              <a:buNone/>
            </a:pPr>
            <a:r>
              <a:rPr lang="en-US" dirty="0"/>
              <a:t>Next Year</a:t>
            </a:r>
          </a:p>
        </p:txBody>
      </p:sp>
      <p:sp>
        <p:nvSpPr>
          <p:cNvPr id="10" name="Content Placeholder 2">
            <a:extLst>
              <a:ext uri="{FF2B5EF4-FFF2-40B4-BE49-F238E27FC236}">
                <a16:creationId xmlns:a16="http://schemas.microsoft.com/office/drawing/2014/main" id="{2DFAC5CF-1B58-ABB4-D63B-1D931D572459}"/>
              </a:ext>
            </a:extLst>
          </p:cNvPr>
          <p:cNvSpPr txBox="1">
            <a:spLocks/>
          </p:cNvSpPr>
          <p:nvPr/>
        </p:nvSpPr>
        <p:spPr>
          <a:xfrm>
            <a:off x="838199" y="2506661"/>
            <a:ext cx="4614949" cy="367030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2200" b="0" i="0" u="none" strike="noStrike" kern="1200" cap="none" spc="0" normalizeH="0" baseline="0" noProof="0" dirty="0">
              <a:ln>
                <a:noFill/>
              </a:ln>
              <a:solidFill>
                <a:srgbClr val="262626"/>
              </a:solidFill>
              <a:effectLst/>
              <a:uLnTx/>
              <a:uFillTx/>
              <a:latin typeface="IBM Plex Mono Text" panose="020B0509050203000203" pitchFamily="49" charset="0"/>
              <a:ea typeface="+mn-ea"/>
              <a:cs typeface="+mn-cs"/>
            </a:endParaRPr>
          </a:p>
        </p:txBody>
      </p:sp>
      <p:sp>
        <p:nvSpPr>
          <p:cNvPr id="11" name="Content Placeholder 2">
            <a:extLst>
              <a:ext uri="{FF2B5EF4-FFF2-40B4-BE49-F238E27FC236}">
                <a16:creationId xmlns:a16="http://schemas.microsoft.com/office/drawing/2014/main" id="{FBAA9DB0-9EAC-9B25-C7F3-3CE83758128E}"/>
              </a:ext>
            </a:extLst>
          </p:cNvPr>
          <p:cNvSpPr txBox="1">
            <a:spLocks/>
          </p:cNvSpPr>
          <p:nvPr/>
        </p:nvSpPr>
        <p:spPr>
          <a:xfrm>
            <a:off x="6172200" y="2506661"/>
            <a:ext cx="4614949" cy="367030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2200" b="0" i="0" u="none" strike="noStrike" kern="1200" cap="none" spc="0" normalizeH="0" baseline="0" noProof="0" dirty="0">
              <a:ln>
                <a:noFill/>
              </a:ln>
              <a:solidFill>
                <a:srgbClr val="262626"/>
              </a:solidFill>
              <a:effectLst/>
              <a:uLnTx/>
              <a:uFillTx/>
              <a:latin typeface="IBM Plex Mono Text" panose="020B0509050203000203" pitchFamily="49" charset="0"/>
              <a:ea typeface="+mn-ea"/>
              <a:cs typeface="+mn-cs"/>
            </a:endParaRPr>
          </a:p>
        </p:txBody>
      </p:sp>
      <p:pic>
        <p:nvPicPr>
          <p:cNvPr id="17" name="Picture 16">
            <a:extLst>
              <a:ext uri="{FF2B5EF4-FFF2-40B4-BE49-F238E27FC236}">
                <a16:creationId xmlns:a16="http://schemas.microsoft.com/office/drawing/2014/main" id="{BF5F4926-B41D-32D8-BC3B-AD62484D3F88}"/>
              </a:ext>
            </a:extLst>
          </p:cNvPr>
          <p:cNvPicPr>
            <a:picLocks noChangeAspect="1"/>
          </p:cNvPicPr>
          <p:nvPr/>
        </p:nvPicPr>
        <p:blipFill>
          <a:blip r:embed="rId3"/>
          <a:stretch>
            <a:fillRect/>
          </a:stretch>
        </p:blipFill>
        <p:spPr>
          <a:xfrm>
            <a:off x="1" y="2357334"/>
            <a:ext cx="5257800" cy="3321221"/>
          </a:xfrm>
          <a:prstGeom prst="rect">
            <a:avLst/>
          </a:prstGeom>
        </p:spPr>
      </p:pic>
      <p:pic>
        <p:nvPicPr>
          <p:cNvPr id="19" name="Picture 18">
            <a:extLst>
              <a:ext uri="{FF2B5EF4-FFF2-40B4-BE49-F238E27FC236}">
                <a16:creationId xmlns:a16="http://schemas.microsoft.com/office/drawing/2014/main" id="{6B7D5544-EBD8-3E1B-E7A4-CE2A76FDC6A9}"/>
              </a:ext>
            </a:extLst>
          </p:cNvPr>
          <p:cNvPicPr>
            <a:picLocks noChangeAspect="1"/>
          </p:cNvPicPr>
          <p:nvPr/>
        </p:nvPicPr>
        <p:blipFill>
          <a:blip r:embed="rId4"/>
          <a:stretch>
            <a:fillRect/>
          </a:stretch>
        </p:blipFill>
        <p:spPr>
          <a:xfrm>
            <a:off x="5453148" y="2327564"/>
            <a:ext cx="5912154" cy="3321221"/>
          </a:xfrm>
          <a:prstGeom prst="rect">
            <a:avLst/>
          </a:prstGeom>
        </p:spPr>
      </p:pic>
    </p:spTree>
    <p:custDataLst>
      <p:tags r:id="rId1"/>
    </p:custDataLst>
    <p:extLst>
      <p:ext uri="{BB962C8B-B14F-4D97-AF65-F5344CB8AC3E}">
        <p14:creationId xmlns:p14="http://schemas.microsoft.com/office/powerpoint/2010/main" val="3684467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7BF14-48B4-018D-63EE-DF24A5A8C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44DA4-C4B2-2A92-8A96-C527D8D026A7}"/>
              </a:ext>
            </a:extLst>
          </p:cNvPr>
          <p:cNvSpPr>
            <a:spLocks noGrp="1"/>
          </p:cNvSpPr>
          <p:nvPr>
            <p:ph type="title"/>
          </p:nvPr>
        </p:nvSpPr>
        <p:spPr>
          <a:xfrm>
            <a:off x="838200" y="365125"/>
            <a:ext cx="10515600" cy="1325563"/>
          </a:xfrm>
        </p:spPr>
        <p:txBody>
          <a:bodyPr>
            <a:normAutofit/>
          </a:bodyPr>
          <a:lstStyle/>
          <a:p>
            <a:r>
              <a:rPr lang="en-US" sz="2800" dirty="0"/>
              <a:t>PROGRAMMING LANGUAGE TRENDS - FINDINGS &amp; IMPLICATIONS</a:t>
            </a:r>
          </a:p>
        </p:txBody>
      </p:sp>
      <p:sp>
        <p:nvSpPr>
          <p:cNvPr id="3" name="Content Placeholder 2">
            <a:extLst>
              <a:ext uri="{FF2B5EF4-FFF2-40B4-BE49-F238E27FC236}">
                <a16:creationId xmlns:a16="http://schemas.microsoft.com/office/drawing/2014/main" id="{0E85DDBB-31B7-4F81-1E76-90009348F1DE}"/>
              </a:ext>
            </a:extLst>
          </p:cNvPr>
          <p:cNvSpPr>
            <a:spLocks noGrp="1"/>
          </p:cNvSpPr>
          <p:nvPr>
            <p:ph sz="half" idx="1"/>
          </p:nvPr>
        </p:nvSpPr>
        <p:spPr>
          <a:xfrm>
            <a:off x="813816" y="1825625"/>
            <a:ext cx="5181600" cy="4351338"/>
          </a:xfrm>
        </p:spPr>
        <p:txBody>
          <a:bodyPr/>
          <a:lstStyle/>
          <a:p>
            <a:pPr marL="0" indent="0">
              <a:buNone/>
            </a:pPr>
            <a:r>
              <a:rPr lang="en-US" dirty="0"/>
              <a:t>Findings</a:t>
            </a:r>
          </a:p>
          <a:p>
            <a:pPr marL="0" indent="0">
              <a:buNone/>
            </a:pPr>
            <a:endParaRPr lang="en-US" dirty="0"/>
          </a:p>
          <a:p>
            <a:r>
              <a:rPr lang="en-US" b="0" i="0" dirty="0">
                <a:solidFill>
                  <a:srgbClr val="343A4D"/>
                </a:solidFill>
                <a:effectLst/>
                <a:latin typeface="Monaco"/>
              </a:rPr>
              <a:t>Web Development JavaScript/TypeScript dominate frontend</a:t>
            </a:r>
          </a:p>
          <a:p>
            <a:r>
              <a:rPr lang="en-US" b="0" i="0" dirty="0">
                <a:solidFill>
                  <a:srgbClr val="343A4D"/>
                </a:solidFill>
                <a:effectLst/>
                <a:latin typeface="Monaco"/>
              </a:rPr>
              <a:t>Future Growth Indicators: SQL and C# with web development</a:t>
            </a:r>
            <a:endParaRPr lang="en-US" dirty="0"/>
          </a:p>
        </p:txBody>
      </p:sp>
      <p:sp>
        <p:nvSpPr>
          <p:cNvPr id="4" name="Content Placeholder 3">
            <a:extLst>
              <a:ext uri="{FF2B5EF4-FFF2-40B4-BE49-F238E27FC236}">
                <a16:creationId xmlns:a16="http://schemas.microsoft.com/office/drawing/2014/main" id="{D2166E7F-5223-7C98-EBC0-E8FA35940F98}"/>
              </a:ext>
            </a:extLst>
          </p:cNvPr>
          <p:cNvSpPr>
            <a:spLocks noGrp="1"/>
          </p:cNvSpPr>
          <p:nvPr>
            <p:ph sz="half" idx="2"/>
          </p:nvPr>
        </p:nvSpPr>
        <p:spPr>
          <a:xfrm>
            <a:off x="6172200" y="1825625"/>
            <a:ext cx="5181600" cy="4351338"/>
          </a:xfrm>
        </p:spPr>
        <p:txBody>
          <a:bodyPr/>
          <a:lstStyle/>
          <a:p>
            <a:pPr marL="0" indent="0">
              <a:buNone/>
            </a:pPr>
            <a:r>
              <a:rPr lang="en-US" dirty="0"/>
              <a:t>Implications</a:t>
            </a:r>
          </a:p>
          <a:p>
            <a:pPr marL="0" indent="0">
              <a:buNone/>
            </a:pPr>
            <a:endParaRPr lang="en-US" dirty="0"/>
          </a:p>
          <a:p>
            <a:r>
              <a:rPr lang="en-US" b="0" i="0" dirty="0">
                <a:solidFill>
                  <a:srgbClr val="343A4D"/>
                </a:solidFill>
                <a:effectLst/>
                <a:latin typeface="Monaco"/>
              </a:rPr>
              <a:t>Multi-language expertise increasingly valuable </a:t>
            </a:r>
          </a:p>
          <a:p>
            <a:r>
              <a:rPr lang="en-US" b="0" i="0" dirty="0">
                <a:solidFill>
                  <a:srgbClr val="343A4D"/>
                </a:solidFill>
                <a:effectLst/>
                <a:latin typeface="Monaco"/>
              </a:rPr>
              <a:t>Cloud-native development skills critical</a:t>
            </a:r>
            <a:endParaRPr lang="en-US" dirty="0"/>
          </a:p>
        </p:txBody>
      </p:sp>
    </p:spTree>
    <p:custDataLst>
      <p:tags r:id="rId1"/>
    </p:custDataLst>
    <p:extLst>
      <p:ext uri="{BB962C8B-B14F-4D97-AF65-F5344CB8AC3E}">
        <p14:creationId xmlns:p14="http://schemas.microsoft.com/office/powerpoint/2010/main" val="37012887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A0F35-C02C-0C12-3664-049CAC5AFA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0B430B-2D6C-26E3-5D00-4D061A250E06}"/>
              </a:ext>
            </a:extLst>
          </p:cNvPr>
          <p:cNvSpPr>
            <a:spLocks noGrp="1"/>
          </p:cNvSpPr>
          <p:nvPr>
            <p:ph type="title"/>
          </p:nvPr>
        </p:nvSpPr>
        <p:spPr>
          <a:xfrm>
            <a:off x="862584" y="428768"/>
            <a:ext cx="10515600" cy="1325563"/>
          </a:xfrm>
        </p:spPr>
        <p:txBody>
          <a:bodyPr/>
          <a:lstStyle/>
          <a:p>
            <a:r>
              <a:rPr lang="en-US" dirty="0"/>
              <a:t>DATABASE TRENDS</a:t>
            </a:r>
          </a:p>
        </p:txBody>
      </p:sp>
      <p:sp>
        <p:nvSpPr>
          <p:cNvPr id="3" name="Content Placeholder 2">
            <a:extLst>
              <a:ext uri="{FF2B5EF4-FFF2-40B4-BE49-F238E27FC236}">
                <a16:creationId xmlns:a16="http://schemas.microsoft.com/office/drawing/2014/main" id="{6C2B3FA5-2985-EAFB-8885-6820D4058AF4}"/>
              </a:ext>
            </a:extLst>
          </p:cNvPr>
          <p:cNvSpPr>
            <a:spLocks noGrp="1"/>
          </p:cNvSpPr>
          <p:nvPr>
            <p:ph sz="half" idx="1"/>
          </p:nvPr>
        </p:nvSpPr>
        <p:spPr>
          <a:xfrm>
            <a:off x="813816" y="1825625"/>
            <a:ext cx="2228642" cy="501939"/>
          </a:xfrm>
        </p:spPr>
        <p:txBody>
          <a:bodyPr/>
          <a:lstStyle/>
          <a:p>
            <a:pPr marL="0" indent="0">
              <a:buNone/>
            </a:pPr>
            <a:r>
              <a:rPr lang="en-US" dirty="0"/>
              <a:t>Current Year</a:t>
            </a:r>
          </a:p>
        </p:txBody>
      </p:sp>
      <p:sp>
        <p:nvSpPr>
          <p:cNvPr id="4" name="Content Placeholder 3">
            <a:extLst>
              <a:ext uri="{FF2B5EF4-FFF2-40B4-BE49-F238E27FC236}">
                <a16:creationId xmlns:a16="http://schemas.microsoft.com/office/drawing/2014/main" id="{30E0AA0B-A66B-F896-65D9-69DDA700D8E7}"/>
              </a:ext>
            </a:extLst>
          </p:cNvPr>
          <p:cNvSpPr>
            <a:spLocks noGrp="1"/>
          </p:cNvSpPr>
          <p:nvPr>
            <p:ph sz="half" idx="2"/>
          </p:nvPr>
        </p:nvSpPr>
        <p:spPr>
          <a:xfrm>
            <a:off x="6172200" y="1825625"/>
            <a:ext cx="1758142" cy="501939"/>
          </a:xfrm>
        </p:spPr>
        <p:txBody>
          <a:bodyPr/>
          <a:lstStyle/>
          <a:p>
            <a:pPr marL="0" indent="0">
              <a:buNone/>
            </a:pPr>
            <a:r>
              <a:rPr lang="en-US" dirty="0"/>
              <a:t>Next Year</a:t>
            </a:r>
          </a:p>
        </p:txBody>
      </p:sp>
      <p:sp>
        <p:nvSpPr>
          <p:cNvPr id="5" name="Content Placeholder 2">
            <a:extLst>
              <a:ext uri="{FF2B5EF4-FFF2-40B4-BE49-F238E27FC236}">
                <a16:creationId xmlns:a16="http://schemas.microsoft.com/office/drawing/2014/main" id="{B4E86EFD-B801-5996-879A-7A13CF75507C}"/>
              </a:ext>
            </a:extLst>
          </p:cNvPr>
          <p:cNvSpPr txBox="1">
            <a:spLocks/>
          </p:cNvSpPr>
          <p:nvPr/>
        </p:nvSpPr>
        <p:spPr>
          <a:xfrm>
            <a:off x="838199" y="2506661"/>
            <a:ext cx="4614949" cy="367030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2200" b="0" i="0" u="none" strike="noStrike" kern="1200" cap="none" spc="0" normalizeH="0" baseline="0" noProof="0" dirty="0">
              <a:ln>
                <a:noFill/>
              </a:ln>
              <a:solidFill>
                <a:srgbClr val="262626"/>
              </a:solidFill>
              <a:effectLst/>
              <a:uLnTx/>
              <a:uFillTx/>
              <a:latin typeface="IBM Plex Mono Text" panose="020B0509050203000203" pitchFamily="49" charset="0"/>
              <a:ea typeface="+mn-ea"/>
              <a:cs typeface="+mn-cs"/>
            </a:endParaRPr>
          </a:p>
        </p:txBody>
      </p:sp>
      <p:sp>
        <p:nvSpPr>
          <p:cNvPr id="6" name="Content Placeholder 2">
            <a:extLst>
              <a:ext uri="{FF2B5EF4-FFF2-40B4-BE49-F238E27FC236}">
                <a16:creationId xmlns:a16="http://schemas.microsoft.com/office/drawing/2014/main" id="{EF288C39-3E30-44CF-06C3-D46763CC8E0C}"/>
              </a:ext>
            </a:extLst>
          </p:cNvPr>
          <p:cNvSpPr txBox="1">
            <a:spLocks/>
          </p:cNvSpPr>
          <p:nvPr/>
        </p:nvSpPr>
        <p:spPr>
          <a:xfrm>
            <a:off x="6172200" y="2506661"/>
            <a:ext cx="4614949" cy="367030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2200" b="0" i="0" u="none" strike="noStrike" kern="1200" cap="none" spc="0" normalizeH="0" baseline="0" noProof="0" dirty="0">
              <a:ln>
                <a:noFill/>
              </a:ln>
              <a:solidFill>
                <a:srgbClr val="262626"/>
              </a:solidFill>
              <a:effectLst/>
              <a:uLnTx/>
              <a:uFillTx/>
              <a:latin typeface="IBM Plex Mono Text" panose="020B0509050203000203" pitchFamily="49" charset="0"/>
              <a:ea typeface="+mn-ea"/>
              <a:cs typeface="+mn-cs"/>
            </a:endParaRPr>
          </a:p>
        </p:txBody>
      </p:sp>
      <p:pic>
        <p:nvPicPr>
          <p:cNvPr id="14" name="Picture 13">
            <a:extLst>
              <a:ext uri="{FF2B5EF4-FFF2-40B4-BE49-F238E27FC236}">
                <a16:creationId xmlns:a16="http://schemas.microsoft.com/office/drawing/2014/main" id="{114F2C6C-F936-B100-D2EB-DF441B59400D}"/>
              </a:ext>
            </a:extLst>
          </p:cNvPr>
          <p:cNvPicPr>
            <a:picLocks noChangeAspect="1"/>
          </p:cNvPicPr>
          <p:nvPr/>
        </p:nvPicPr>
        <p:blipFill>
          <a:blip r:embed="rId3"/>
          <a:stretch>
            <a:fillRect/>
          </a:stretch>
        </p:blipFill>
        <p:spPr>
          <a:xfrm>
            <a:off x="0" y="2447396"/>
            <a:ext cx="5912154" cy="2921150"/>
          </a:xfrm>
          <a:prstGeom prst="rect">
            <a:avLst/>
          </a:prstGeom>
        </p:spPr>
      </p:pic>
      <p:pic>
        <p:nvPicPr>
          <p:cNvPr id="16" name="Picture 15">
            <a:extLst>
              <a:ext uri="{FF2B5EF4-FFF2-40B4-BE49-F238E27FC236}">
                <a16:creationId xmlns:a16="http://schemas.microsoft.com/office/drawing/2014/main" id="{573F19AA-E884-485A-2FEB-703017DABE06}"/>
              </a:ext>
            </a:extLst>
          </p:cNvPr>
          <p:cNvPicPr>
            <a:picLocks noChangeAspect="1"/>
          </p:cNvPicPr>
          <p:nvPr/>
        </p:nvPicPr>
        <p:blipFill>
          <a:blip r:embed="rId4"/>
          <a:stretch>
            <a:fillRect/>
          </a:stretch>
        </p:blipFill>
        <p:spPr>
          <a:xfrm>
            <a:off x="6096000" y="2447396"/>
            <a:ext cx="5950256" cy="3181514"/>
          </a:xfrm>
          <a:prstGeom prst="rect">
            <a:avLst/>
          </a:prstGeom>
        </p:spPr>
      </p:pic>
    </p:spTree>
    <p:custDataLst>
      <p:tags r:id="rId1"/>
    </p:custDataLst>
    <p:extLst>
      <p:ext uri="{BB962C8B-B14F-4D97-AF65-F5344CB8AC3E}">
        <p14:creationId xmlns:p14="http://schemas.microsoft.com/office/powerpoint/2010/main" val="15028874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A6A9C-70D0-119E-38BE-1738DA5AD3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97E2B-01DB-9C21-4CF2-1586AB1C34C4}"/>
              </a:ext>
            </a:extLst>
          </p:cNvPr>
          <p:cNvSpPr>
            <a:spLocks noGrp="1"/>
          </p:cNvSpPr>
          <p:nvPr>
            <p:ph type="title"/>
          </p:nvPr>
        </p:nvSpPr>
        <p:spPr>
          <a:xfrm>
            <a:off x="48985" y="365125"/>
            <a:ext cx="12094029" cy="1325563"/>
          </a:xfrm>
        </p:spPr>
        <p:txBody>
          <a:bodyPr/>
          <a:lstStyle/>
          <a:p>
            <a:r>
              <a:rPr lang="en-US" dirty="0"/>
              <a:t>DATABASE TRENDS - FINDINGS &amp; IMPLICATIONS</a:t>
            </a:r>
          </a:p>
        </p:txBody>
      </p:sp>
      <p:sp>
        <p:nvSpPr>
          <p:cNvPr id="3" name="Content Placeholder 2">
            <a:extLst>
              <a:ext uri="{FF2B5EF4-FFF2-40B4-BE49-F238E27FC236}">
                <a16:creationId xmlns:a16="http://schemas.microsoft.com/office/drawing/2014/main" id="{F73EC42F-75A2-FA08-F2B6-EB2817BBF83F}"/>
              </a:ext>
            </a:extLst>
          </p:cNvPr>
          <p:cNvSpPr>
            <a:spLocks noGrp="1"/>
          </p:cNvSpPr>
          <p:nvPr>
            <p:ph sz="half" idx="1"/>
          </p:nvPr>
        </p:nvSpPr>
        <p:spPr>
          <a:xfrm>
            <a:off x="813816" y="1825625"/>
            <a:ext cx="5181600" cy="4351338"/>
          </a:xfrm>
        </p:spPr>
        <p:txBody>
          <a:bodyPr>
            <a:normAutofit/>
          </a:bodyPr>
          <a:lstStyle/>
          <a:p>
            <a:pPr marL="0" indent="0">
              <a:buNone/>
            </a:pPr>
            <a:r>
              <a:rPr lang="en-US" dirty="0"/>
              <a:t>Findings</a:t>
            </a:r>
          </a:p>
          <a:p>
            <a:pPr marL="0" indent="0">
              <a:buNone/>
            </a:pPr>
            <a:r>
              <a:rPr lang="en-US" dirty="0"/>
              <a:t>The current trend shows that PostgreSQL leads in open-source adoption, while the future trend indicates that MongoDB is set to dominate the NoSQL space, and AWS Aurora is the fastest-growing cloud database.</a:t>
            </a:r>
            <a:endParaRPr lang="en-US" dirty="0">
              <a:solidFill>
                <a:srgbClr val="343A4D"/>
              </a:solidFill>
              <a:latin typeface="Monaco"/>
            </a:endParaRPr>
          </a:p>
        </p:txBody>
      </p:sp>
      <p:sp>
        <p:nvSpPr>
          <p:cNvPr id="4" name="Content Placeholder 3">
            <a:extLst>
              <a:ext uri="{FF2B5EF4-FFF2-40B4-BE49-F238E27FC236}">
                <a16:creationId xmlns:a16="http://schemas.microsoft.com/office/drawing/2014/main" id="{D327B10A-E9C3-5B71-0345-782E28BDB37C}"/>
              </a:ext>
            </a:extLst>
          </p:cNvPr>
          <p:cNvSpPr>
            <a:spLocks noGrp="1"/>
          </p:cNvSpPr>
          <p:nvPr>
            <p:ph sz="half" idx="2"/>
          </p:nvPr>
        </p:nvSpPr>
        <p:spPr>
          <a:xfrm>
            <a:off x="6172200" y="1825625"/>
            <a:ext cx="5181600" cy="4351338"/>
          </a:xfrm>
        </p:spPr>
        <p:txBody>
          <a:bodyPr>
            <a:normAutofit/>
          </a:bodyPr>
          <a:lstStyle/>
          <a:p>
            <a:pPr marL="0" indent="0">
              <a:buNone/>
            </a:pPr>
            <a:r>
              <a:rPr lang="en-US" dirty="0"/>
              <a:t>Implications</a:t>
            </a:r>
          </a:p>
          <a:p>
            <a:pPr marL="0" indent="0">
              <a:buNone/>
            </a:pPr>
            <a:r>
              <a:rPr lang="en-US" dirty="0"/>
              <a:t>Cost optimization through cloud databases has improved scalability with distributed systems, enhanced data security measures, and enabled easier real-time analytics capabilities.</a:t>
            </a:r>
          </a:p>
        </p:txBody>
      </p:sp>
    </p:spTree>
    <p:custDataLst>
      <p:tags r:id="rId1"/>
    </p:custDataLst>
    <p:extLst>
      <p:ext uri="{BB962C8B-B14F-4D97-AF65-F5344CB8AC3E}">
        <p14:creationId xmlns:p14="http://schemas.microsoft.com/office/powerpoint/2010/main" val="31881259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8291F-E27C-74F8-33D3-FF131FC968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BB7D73-872E-CFE8-1C38-8422F383863C}"/>
              </a:ext>
            </a:extLst>
          </p:cNvPr>
          <p:cNvSpPr>
            <a:spLocks noGrp="1"/>
          </p:cNvSpPr>
          <p:nvPr>
            <p:ph type="title"/>
          </p:nvPr>
        </p:nvSpPr>
        <p:spPr>
          <a:xfrm>
            <a:off x="838200" y="365125"/>
            <a:ext cx="10515600" cy="1325563"/>
          </a:xfrm>
        </p:spPr>
        <p:txBody>
          <a:bodyPr anchor="ctr">
            <a:normAutofit/>
          </a:bodyPr>
          <a:lstStyle/>
          <a:p>
            <a:r>
              <a:rPr lang="en-US" dirty="0"/>
              <a:t>DASHBOARD</a:t>
            </a:r>
          </a:p>
        </p:txBody>
      </p:sp>
      <p:sp>
        <p:nvSpPr>
          <p:cNvPr id="3" name="Content Placeholder 2">
            <a:extLst>
              <a:ext uri="{FF2B5EF4-FFF2-40B4-BE49-F238E27FC236}">
                <a16:creationId xmlns:a16="http://schemas.microsoft.com/office/drawing/2014/main" id="{25C64183-B387-01E7-21BA-4DA6B1F51815}"/>
              </a:ext>
            </a:extLst>
          </p:cNvPr>
          <p:cNvSpPr txBox="1">
            <a:spLocks/>
          </p:cNvSpPr>
          <p:nvPr/>
        </p:nvSpPr>
        <p:spPr>
          <a:xfrm>
            <a:off x="4285075" y="3142210"/>
            <a:ext cx="7068725" cy="25692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a:buNone/>
              <a:tabLst/>
              <a:defRPr/>
            </a:pPr>
            <a:r>
              <a:rPr kumimoji="0" lang="en-US" sz="2200" b="0" i="0" u="none" strike="noStrike" kern="1200" cap="none" spc="0" normalizeH="0" baseline="0" noProof="0" dirty="0">
                <a:ln>
                  <a:noFill/>
                </a:ln>
                <a:solidFill>
                  <a:srgbClr val="002060"/>
                </a:solidFill>
                <a:effectLst/>
                <a:uLnTx/>
                <a:uFillTx/>
                <a:latin typeface="IBM Plex Sans" panose="020B0503050203000203" pitchFamily="34" charset="0"/>
                <a:ea typeface="+mn-ea"/>
                <a:cs typeface="+mn-cs"/>
                <a:hlinkClick r:id="rId3">
                  <a:extLst>
                    <a:ext uri="{A12FA001-AC4F-418D-AE19-62706E023703}">
                      <ahyp:hlinkClr xmlns:ahyp="http://schemas.microsoft.com/office/drawing/2018/hyperlinkcolor" val="tx"/>
                    </a:ext>
                  </a:extLst>
                </a:hlinkClick>
              </a:rPr>
              <a:t>https://github.com/GulamRasoolSiddiqui/Python-Project-for-Data-Science/blob/main/Current%20Technology%20Usage.pdf</a:t>
            </a:r>
            <a:endParaRPr kumimoji="0" lang="en-US" sz="2200" b="0" i="0" u="none" strike="noStrike" kern="1200" cap="none" spc="0" normalizeH="0" baseline="0" noProof="0" dirty="0">
              <a:ln>
                <a:noFill/>
              </a:ln>
              <a:solidFill>
                <a:srgbClr val="002060"/>
              </a:solidFill>
              <a:effectLst/>
              <a:uLnTx/>
              <a:uFillTx/>
              <a:latin typeface="IBM Plex Sans" panose="020B0503050203000203" pitchFamily="34" charset="0"/>
              <a:ea typeface="+mn-ea"/>
              <a:cs typeface="+mn-cs"/>
            </a:endParaRPr>
          </a:p>
        </p:txBody>
      </p:sp>
      <p:pic>
        <p:nvPicPr>
          <p:cNvPr id="4" name="Picture 3">
            <a:extLst>
              <a:ext uri="{FF2B5EF4-FFF2-40B4-BE49-F238E27FC236}">
                <a16:creationId xmlns:a16="http://schemas.microsoft.com/office/drawing/2014/main" id="{A79822F7-4A79-5E92-9C6D-8A9769182E2E}"/>
              </a:ext>
            </a:extLst>
          </p:cNvPr>
          <p:cNvPicPr>
            <a:picLocks noChangeAspect="1"/>
          </p:cNvPicPr>
          <p:nvPr/>
        </p:nvPicPr>
        <p:blipFill>
          <a:blip r:embed="rId4"/>
          <a:stretch>
            <a:fillRect/>
          </a:stretch>
        </p:blipFill>
        <p:spPr>
          <a:xfrm>
            <a:off x="1077475" y="1901819"/>
            <a:ext cx="3054361" cy="3054361"/>
          </a:xfrm>
          <a:prstGeom prst="rect">
            <a:avLst/>
          </a:prstGeom>
        </p:spPr>
      </p:pic>
    </p:spTree>
    <p:custDataLst>
      <p:tags r:id="rId1"/>
    </p:custDataLst>
    <p:extLst>
      <p:ext uri="{BB962C8B-B14F-4D97-AF65-F5344CB8AC3E}">
        <p14:creationId xmlns:p14="http://schemas.microsoft.com/office/powerpoint/2010/main" val="175219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2F0CA-55D1-0835-20D4-03D017A1D5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93914-A678-A34E-C52A-16D0ADAA25AF}"/>
              </a:ext>
            </a:extLst>
          </p:cNvPr>
          <p:cNvSpPr>
            <a:spLocks noGrp="1"/>
          </p:cNvSpPr>
          <p:nvPr>
            <p:ph type="title"/>
          </p:nvPr>
        </p:nvSpPr>
        <p:spPr>
          <a:xfrm>
            <a:off x="838200" y="365125"/>
            <a:ext cx="10515600" cy="1325563"/>
          </a:xfrm>
        </p:spPr>
        <p:txBody>
          <a:bodyPr anchor="ctr">
            <a:normAutofit/>
          </a:bodyPr>
          <a:lstStyle/>
          <a:p>
            <a:r>
              <a:rPr lang="en-US" dirty="0"/>
              <a:t>DASHBOARD TAB 1</a:t>
            </a:r>
          </a:p>
        </p:txBody>
      </p:sp>
      <p:pic>
        <p:nvPicPr>
          <p:cNvPr id="10" name="Picture 9">
            <a:extLst>
              <a:ext uri="{FF2B5EF4-FFF2-40B4-BE49-F238E27FC236}">
                <a16:creationId xmlns:a16="http://schemas.microsoft.com/office/drawing/2014/main" id="{64141E3D-206A-A1D7-8C1E-00CC741DAFA0}"/>
              </a:ext>
            </a:extLst>
          </p:cNvPr>
          <p:cNvPicPr>
            <a:picLocks noChangeAspect="1"/>
          </p:cNvPicPr>
          <p:nvPr/>
        </p:nvPicPr>
        <p:blipFill>
          <a:blip r:embed="rId3"/>
          <a:stretch>
            <a:fillRect/>
          </a:stretch>
        </p:blipFill>
        <p:spPr>
          <a:xfrm>
            <a:off x="2302606" y="1600199"/>
            <a:ext cx="7815387" cy="4572000"/>
          </a:xfrm>
          <a:prstGeom prst="rect">
            <a:avLst/>
          </a:prstGeom>
          <a:noFill/>
        </p:spPr>
      </p:pic>
    </p:spTree>
    <p:custDataLst>
      <p:tags r:id="rId1"/>
    </p:custDataLst>
    <p:extLst>
      <p:ext uri="{BB962C8B-B14F-4D97-AF65-F5344CB8AC3E}">
        <p14:creationId xmlns:p14="http://schemas.microsoft.com/office/powerpoint/2010/main" val="2429736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8F23D-B8D7-D0E4-EDC5-E0F023884D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F933A-3681-3D82-68EF-62EC07822DAD}"/>
              </a:ext>
            </a:extLst>
          </p:cNvPr>
          <p:cNvSpPr>
            <a:spLocks noGrp="1"/>
          </p:cNvSpPr>
          <p:nvPr>
            <p:ph type="title"/>
          </p:nvPr>
        </p:nvSpPr>
        <p:spPr>
          <a:xfrm>
            <a:off x="838200" y="365125"/>
            <a:ext cx="10515600" cy="1325563"/>
          </a:xfrm>
        </p:spPr>
        <p:txBody>
          <a:bodyPr anchor="ctr">
            <a:normAutofit/>
          </a:bodyPr>
          <a:lstStyle/>
          <a:p>
            <a:r>
              <a:rPr lang="en-US" dirty="0"/>
              <a:t>DASHBOARD TAB 2</a:t>
            </a:r>
          </a:p>
        </p:txBody>
      </p:sp>
      <p:pic>
        <p:nvPicPr>
          <p:cNvPr id="9" name="Picture 8">
            <a:extLst>
              <a:ext uri="{FF2B5EF4-FFF2-40B4-BE49-F238E27FC236}">
                <a16:creationId xmlns:a16="http://schemas.microsoft.com/office/drawing/2014/main" id="{1FA80DC0-89CF-7C91-ADA0-99D868213C10}"/>
              </a:ext>
            </a:extLst>
          </p:cNvPr>
          <p:cNvPicPr>
            <a:picLocks noChangeAspect="1"/>
          </p:cNvPicPr>
          <p:nvPr/>
        </p:nvPicPr>
        <p:blipFill>
          <a:blip r:embed="rId3"/>
          <a:stretch>
            <a:fillRect/>
          </a:stretch>
        </p:blipFill>
        <p:spPr>
          <a:xfrm>
            <a:off x="2368283" y="1600199"/>
            <a:ext cx="7684033" cy="4572000"/>
          </a:xfrm>
          <a:prstGeom prst="rect">
            <a:avLst/>
          </a:prstGeom>
          <a:noFill/>
        </p:spPr>
      </p:pic>
    </p:spTree>
    <p:custDataLst>
      <p:tags r:id="rId1"/>
    </p:custDataLst>
    <p:extLst>
      <p:ext uri="{BB962C8B-B14F-4D97-AF65-F5344CB8AC3E}">
        <p14:creationId xmlns:p14="http://schemas.microsoft.com/office/powerpoint/2010/main" val="20484966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A10D3-267F-7A90-5160-775BFEBCA6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2C0C82-5F1A-F7B1-2C56-5C08240C1647}"/>
              </a:ext>
            </a:extLst>
          </p:cNvPr>
          <p:cNvSpPr>
            <a:spLocks noGrp="1"/>
          </p:cNvSpPr>
          <p:nvPr>
            <p:ph type="title"/>
          </p:nvPr>
        </p:nvSpPr>
        <p:spPr>
          <a:xfrm>
            <a:off x="838200" y="365125"/>
            <a:ext cx="10515600" cy="1325563"/>
          </a:xfrm>
        </p:spPr>
        <p:txBody>
          <a:bodyPr anchor="ctr">
            <a:normAutofit/>
          </a:bodyPr>
          <a:lstStyle/>
          <a:p>
            <a:r>
              <a:rPr lang="en-US" dirty="0"/>
              <a:t>DASHBOARD TAB 3</a:t>
            </a:r>
          </a:p>
        </p:txBody>
      </p:sp>
      <p:sp>
        <p:nvSpPr>
          <p:cNvPr id="3" name="Content Placeholder 2">
            <a:extLst>
              <a:ext uri="{FF2B5EF4-FFF2-40B4-BE49-F238E27FC236}">
                <a16:creationId xmlns:a16="http://schemas.microsoft.com/office/drawing/2014/main" id="{84961A98-8DF3-E66E-19C4-7D7642551E90}"/>
              </a:ext>
            </a:extLst>
          </p:cNvPr>
          <p:cNvSpPr>
            <a:spLocks noGrp="1"/>
          </p:cNvSpPr>
          <p:nvPr>
            <p:ph idx="1"/>
          </p:nvPr>
        </p:nvSpPr>
        <p:spPr>
          <a:xfrm>
            <a:off x="838200" y="1527944"/>
            <a:ext cx="10515600" cy="4737628"/>
          </a:xfrm>
        </p:spPr>
        <p:txBody>
          <a:bodyPr/>
          <a:lstStyle/>
          <a:p>
            <a:pPr marL="0" indent="0">
              <a:buNone/>
            </a:pPr>
            <a:endParaRPr lang="en-US" dirty="0"/>
          </a:p>
          <a:p>
            <a:pPr marL="0" indent="0">
              <a:buNone/>
            </a:pPr>
            <a:endParaRPr lang="en-US" dirty="0"/>
          </a:p>
        </p:txBody>
      </p:sp>
      <p:pic>
        <p:nvPicPr>
          <p:cNvPr id="7" name="Picture 6">
            <a:extLst>
              <a:ext uri="{FF2B5EF4-FFF2-40B4-BE49-F238E27FC236}">
                <a16:creationId xmlns:a16="http://schemas.microsoft.com/office/drawing/2014/main" id="{8AF321F8-200A-3355-79B4-D3DBF0B6A7C2}"/>
              </a:ext>
            </a:extLst>
          </p:cNvPr>
          <p:cNvPicPr>
            <a:picLocks noChangeAspect="1"/>
          </p:cNvPicPr>
          <p:nvPr/>
        </p:nvPicPr>
        <p:blipFill>
          <a:blip r:embed="rId3"/>
          <a:stretch>
            <a:fillRect/>
          </a:stretch>
        </p:blipFill>
        <p:spPr>
          <a:xfrm>
            <a:off x="1912204" y="1527944"/>
            <a:ext cx="8522138" cy="4845299"/>
          </a:xfrm>
          <a:prstGeom prst="rect">
            <a:avLst/>
          </a:prstGeom>
        </p:spPr>
      </p:pic>
    </p:spTree>
    <p:custDataLst>
      <p:tags r:id="rId1"/>
    </p:custDataLst>
    <p:extLst>
      <p:ext uri="{BB962C8B-B14F-4D97-AF65-F5344CB8AC3E}">
        <p14:creationId xmlns:p14="http://schemas.microsoft.com/office/powerpoint/2010/main" val="24056362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62C0A-56EF-B349-A097-27B4D460D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98769-531F-C6A5-406F-D1C3D2805950}"/>
              </a:ext>
            </a:extLst>
          </p:cNvPr>
          <p:cNvSpPr>
            <a:spLocks noGrp="1"/>
          </p:cNvSpPr>
          <p:nvPr>
            <p:ph type="title"/>
          </p:nvPr>
        </p:nvSpPr>
        <p:spPr>
          <a:xfrm>
            <a:off x="838200" y="365125"/>
            <a:ext cx="10515600" cy="1325563"/>
          </a:xfrm>
        </p:spPr>
        <p:txBody>
          <a:bodyPr anchor="ctr">
            <a:normAutofit/>
          </a:bodyPr>
          <a:lstStyle/>
          <a:p>
            <a:r>
              <a:rPr lang="en-US" dirty="0"/>
              <a:t>DISCUSSION</a:t>
            </a:r>
          </a:p>
        </p:txBody>
      </p:sp>
      <p:pic>
        <p:nvPicPr>
          <p:cNvPr id="3" name="Content Placeholder 2">
            <a:extLst>
              <a:ext uri="{FF2B5EF4-FFF2-40B4-BE49-F238E27FC236}">
                <a16:creationId xmlns:a16="http://schemas.microsoft.com/office/drawing/2014/main" id="{1F45ECC1-C956-CADF-DDFD-F54C6608E401}"/>
              </a:ext>
            </a:extLst>
          </p:cNvPr>
          <p:cNvPicPr>
            <a:picLocks noGrp="1" noChangeAspect="1"/>
          </p:cNvPicPr>
          <p:nvPr>
            <p:ph sz="half" idx="1"/>
          </p:nvPr>
        </p:nvPicPr>
        <p:blipFill>
          <a:blip r:embed="rId3"/>
          <a:stretch>
            <a:fillRect/>
          </a:stretch>
        </p:blipFill>
        <p:spPr>
          <a:xfrm>
            <a:off x="1253331" y="1825625"/>
            <a:ext cx="4351338" cy="4351338"/>
          </a:xfrm>
          <a:prstGeom prst="rect">
            <a:avLst/>
          </a:prstGeom>
          <a:noFill/>
        </p:spPr>
      </p:pic>
      <p:sp>
        <p:nvSpPr>
          <p:cNvPr id="4" name="Content Placeholder 3">
            <a:extLst>
              <a:ext uri="{FF2B5EF4-FFF2-40B4-BE49-F238E27FC236}">
                <a16:creationId xmlns:a16="http://schemas.microsoft.com/office/drawing/2014/main" id="{0F67EF50-003F-6BB0-4367-42BB884C77A4}"/>
              </a:ext>
            </a:extLst>
          </p:cNvPr>
          <p:cNvSpPr>
            <a:spLocks noGrp="1"/>
          </p:cNvSpPr>
          <p:nvPr>
            <p:ph sz="half" idx="2"/>
          </p:nvPr>
        </p:nvSpPr>
        <p:spPr>
          <a:xfrm>
            <a:off x="6172200" y="1825625"/>
            <a:ext cx="5181600" cy="4351338"/>
          </a:xfrm>
        </p:spPr>
        <p:txBody>
          <a:bodyPr/>
          <a:lstStyle/>
          <a:p>
            <a:endParaRPr lang="en-US" dirty="0"/>
          </a:p>
        </p:txBody>
      </p:sp>
    </p:spTree>
    <p:custDataLst>
      <p:tags r:id="rId1"/>
    </p:custDataLst>
    <p:extLst>
      <p:ext uri="{BB962C8B-B14F-4D97-AF65-F5344CB8AC3E}">
        <p14:creationId xmlns:p14="http://schemas.microsoft.com/office/powerpoint/2010/main" val="8573335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05330-0589-A550-601A-037CA416F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BA8902-AF46-DDE8-D792-7940E18AF629}"/>
              </a:ext>
            </a:extLst>
          </p:cNvPr>
          <p:cNvSpPr>
            <a:spLocks noGrp="1"/>
          </p:cNvSpPr>
          <p:nvPr>
            <p:ph type="title"/>
          </p:nvPr>
        </p:nvSpPr>
        <p:spPr>
          <a:xfrm>
            <a:off x="838200" y="365125"/>
            <a:ext cx="10515600" cy="1325563"/>
          </a:xfrm>
        </p:spPr>
        <p:txBody>
          <a:bodyPr/>
          <a:lstStyle/>
          <a:p>
            <a:r>
              <a:rPr lang="en-US" dirty="0"/>
              <a:t>OVERALL FINDINGS &amp; IMPLICATIONS</a:t>
            </a:r>
          </a:p>
        </p:txBody>
      </p:sp>
      <p:sp>
        <p:nvSpPr>
          <p:cNvPr id="3" name="Content Placeholder 2">
            <a:extLst>
              <a:ext uri="{FF2B5EF4-FFF2-40B4-BE49-F238E27FC236}">
                <a16:creationId xmlns:a16="http://schemas.microsoft.com/office/drawing/2014/main" id="{D196B89C-35B9-C514-4E9C-FCBE8D68D3FD}"/>
              </a:ext>
            </a:extLst>
          </p:cNvPr>
          <p:cNvSpPr>
            <a:spLocks noGrp="1"/>
          </p:cNvSpPr>
          <p:nvPr>
            <p:ph sz="half" idx="1"/>
          </p:nvPr>
        </p:nvSpPr>
        <p:spPr>
          <a:xfrm>
            <a:off x="813816" y="1825625"/>
            <a:ext cx="5181600" cy="4351338"/>
          </a:xfrm>
        </p:spPr>
        <p:txBody>
          <a:bodyPr>
            <a:normAutofit/>
          </a:bodyPr>
          <a:lstStyle/>
          <a:p>
            <a:pPr marL="0" indent="0">
              <a:buNone/>
            </a:pPr>
            <a:r>
              <a:rPr lang="en-US" dirty="0"/>
              <a:t>Findings</a:t>
            </a:r>
          </a:p>
          <a:p>
            <a:pPr marL="0" indent="0">
              <a:buNone/>
            </a:pPr>
            <a:endParaRPr lang="en-US" dirty="0"/>
          </a:p>
          <a:p>
            <a:r>
              <a:rPr lang="en-US" dirty="0"/>
              <a:t>Most of the respondents are from the USA and aged 24 to 35 with a bachelor's or master's degree share similar interests in programming languages, as shown in the line graph.</a:t>
            </a:r>
          </a:p>
          <a:p>
            <a:endParaRPr lang="en-US" dirty="0"/>
          </a:p>
        </p:txBody>
      </p:sp>
      <p:sp>
        <p:nvSpPr>
          <p:cNvPr id="4" name="Content Placeholder 3">
            <a:extLst>
              <a:ext uri="{FF2B5EF4-FFF2-40B4-BE49-F238E27FC236}">
                <a16:creationId xmlns:a16="http://schemas.microsoft.com/office/drawing/2014/main" id="{2FDBBA5A-826D-FFFD-F1BE-92269842D330}"/>
              </a:ext>
            </a:extLst>
          </p:cNvPr>
          <p:cNvSpPr>
            <a:spLocks noGrp="1"/>
          </p:cNvSpPr>
          <p:nvPr>
            <p:ph sz="half" idx="2"/>
          </p:nvPr>
        </p:nvSpPr>
        <p:spPr>
          <a:xfrm>
            <a:off x="6172200" y="1825625"/>
            <a:ext cx="5181600" cy="4351338"/>
          </a:xfrm>
        </p:spPr>
        <p:txBody>
          <a:bodyPr>
            <a:normAutofit/>
          </a:bodyPr>
          <a:lstStyle/>
          <a:p>
            <a:pPr marL="0" indent="0">
              <a:buNone/>
            </a:pPr>
            <a:r>
              <a:rPr lang="en-US" dirty="0"/>
              <a:t>Implications</a:t>
            </a:r>
          </a:p>
          <a:p>
            <a:pPr marL="0" indent="0">
              <a:buNone/>
            </a:pPr>
            <a:r>
              <a:rPr lang="en-US" dirty="0"/>
              <a:t>Accelerate cloud adoption strategies with the growth of serverless computing and the expansion of SQL and NoSQL database technologies. Additionally, knowledge of programming languages and web design further drives this growth.</a:t>
            </a:r>
          </a:p>
        </p:txBody>
      </p:sp>
    </p:spTree>
    <p:custDataLst>
      <p:tags r:id="rId1"/>
    </p:custDataLst>
    <p:extLst>
      <p:ext uri="{BB962C8B-B14F-4D97-AF65-F5344CB8AC3E}">
        <p14:creationId xmlns:p14="http://schemas.microsoft.com/office/powerpoint/2010/main" val="38656372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A16F-6AB5-5C0B-5466-65B2A6AE811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5E978FF3-BC93-079A-1687-DD4786B81DF4}"/>
              </a:ext>
            </a:extLst>
          </p:cNvPr>
          <p:cNvSpPr>
            <a:spLocks noGrp="1"/>
          </p:cNvSpPr>
          <p:nvPr>
            <p:ph type="title"/>
          </p:nvPr>
        </p:nvSpPr>
        <p:spPr>
          <a:xfrm>
            <a:off x="838200" y="365125"/>
            <a:ext cx="10515600" cy="1325563"/>
          </a:xfrm>
        </p:spPr>
        <p:txBody>
          <a:bodyPr anchor="ctr">
            <a:normAutofit/>
          </a:bodyPr>
          <a:lstStyle/>
          <a:p>
            <a:r>
              <a:rPr lang="en-US" dirty="0"/>
              <a:t>CONCLUSION</a:t>
            </a:r>
          </a:p>
        </p:txBody>
      </p:sp>
      <p:sp>
        <p:nvSpPr>
          <p:cNvPr id="12" name="Content Placeholder 3">
            <a:extLst>
              <a:ext uri="{FF2B5EF4-FFF2-40B4-BE49-F238E27FC236}">
                <a16:creationId xmlns:a16="http://schemas.microsoft.com/office/drawing/2014/main" id="{2E75918E-509D-16F8-F478-FA41759FEFE9}"/>
              </a:ext>
            </a:extLst>
          </p:cNvPr>
          <p:cNvSpPr txBox="1">
            <a:spLocks/>
          </p:cNvSpPr>
          <p:nvPr/>
        </p:nvSpPr>
        <p:spPr>
          <a:xfrm>
            <a:off x="4544291" y="1825625"/>
            <a:ext cx="680950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None/>
            </a:pPr>
            <a:r>
              <a:rPr lang="en-US" dirty="0"/>
              <a:t>Overall, it appears that respondents aged 24 to 35 with a bachelor's or master's degree share similar interests in programming languages. Further growth is expected in NoSQL, with a stronger focus on cloud-based MongoDB.</a:t>
            </a:r>
            <a:endParaRPr kumimoji="0" lang="en-US" sz="28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endParaRPr>
          </a:p>
        </p:txBody>
      </p:sp>
      <p:pic>
        <p:nvPicPr>
          <p:cNvPr id="13" name="Content Placeholder 5">
            <a:extLst>
              <a:ext uri="{FF2B5EF4-FFF2-40B4-BE49-F238E27FC236}">
                <a16:creationId xmlns:a16="http://schemas.microsoft.com/office/drawing/2014/main" id="{CD985AE9-0D12-3398-B9B7-4395CABF1707}"/>
              </a:ext>
            </a:extLst>
          </p:cNvPr>
          <p:cNvPicPr>
            <a:picLocks noGrp="1" noChangeAspect="1"/>
          </p:cNvPicPr>
          <p:nvPr>
            <p:ph sz="half" idx="1"/>
          </p:nvPr>
        </p:nvPicPr>
        <p:blipFill>
          <a:blip r:embed="rId3"/>
          <a:stretch>
            <a:fillRect/>
          </a:stretch>
        </p:blipFill>
        <p:spPr>
          <a:xfrm>
            <a:off x="1125967" y="2113896"/>
            <a:ext cx="3054361" cy="3054361"/>
          </a:xfrm>
          <a:prstGeom prst="rect">
            <a:avLst/>
          </a:prstGeom>
        </p:spPr>
      </p:pic>
    </p:spTree>
    <p:custDataLst>
      <p:tags r:id="rId1"/>
    </p:custDataLst>
    <p:extLst>
      <p:ext uri="{BB962C8B-B14F-4D97-AF65-F5344CB8AC3E}">
        <p14:creationId xmlns:p14="http://schemas.microsoft.com/office/powerpoint/2010/main" val="8403782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598F-DBE3-7B78-D1F9-0BA7F7DC75BC}"/>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4A3B939-6057-23B6-25B3-E33A2D205C2A}"/>
              </a:ext>
            </a:extLst>
          </p:cNvPr>
          <p:cNvSpPr>
            <a:spLocks noGrp="1"/>
          </p:cNvSpPr>
          <p:nvPr>
            <p:ph type="title"/>
          </p:nvPr>
        </p:nvSpPr>
        <p:spPr>
          <a:xfrm>
            <a:off x="838200" y="365125"/>
            <a:ext cx="10515600" cy="1325563"/>
          </a:xfrm>
        </p:spPr>
        <p:txBody>
          <a:bodyPr anchor="ctr">
            <a:normAutofit/>
          </a:bodyPr>
          <a:lstStyle/>
          <a:p>
            <a:r>
              <a:rPr lang="en-US" dirty="0"/>
              <a:t>APPENDIX</a:t>
            </a:r>
          </a:p>
        </p:txBody>
      </p:sp>
      <p:sp>
        <p:nvSpPr>
          <p:cNvPr id="10" name="Content Placeholder 3">
            <a:extLst>
              <a:ext uri="{FF2B5EF4-FFF2-40B4-BE49-F238E27FC236}">
                <a16:creationId xmlns:a16="http://schemas.microsoft.com/office/drawing/2014/main" id="{8E40FF55-AE57-CB43-454D-CEFBE080CE8E}"/>
              </a:ext>
            </a:extLst>
          </p:cNvPr>
          <p:cNvSpPr txBox="1">
            <a:spLocks/>
          </p:cNvSpPr>
          <p:nvPr/>
        </p:nvSpPr>
        <p:spPr>
          <a:xfrm>
            <a:off x="3625403" y="1825625"/>
            <a:ext cx="7728397"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4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Include any relevant additional charts, or tables that you may have created during the analysis phase.</a:t>
            </a:r>
          </a:p>
        </p:txBody>
      </p:sp>
      <p:pic>
        <p:nvPicPr>
          <p:cNvPr id="11" name="Content Placeholder 3">
            <a:extLst>
              <a:ext uri="{FF2B5EF4-FFF2-40B4-BE49-F238E27FC236}">
                <a16:creationId xmlns:a16="http://schemas.microsoft.com/office/drawing/2014/main" id="{E8E550E5-7A15-A106-D083-8C1433A790A1}"/>
              </a:ext>
            </a:extLst>
          </p:cNvPr>
          <p:cNvPicPr>
            <a:picLocks noGrp="1" noChangeAspect="1"/>
          </p:cNvPicPr>
          <p:nvPr>
            <p:ph sz="half" idx="1"/>
          </p:nvPr>
        </p:nvPicPr>
        <p:blipFill>
          <a:blip r:embed="rId3"/>
          <a:stretch>
            <a:fillRect/>
          </a:stretch>
        </p:blipFill>
        <p:spPr>
          <a:xfrm>
            <a:off x="688809" y="1831709"/>
            <a:ext cx="3194581" cy="3194581"/>
          </a:xfrm>
          <a:prstGeom prst="rect">
            <a:avLst/>
          </a:prstGeom>
        </p:spPr>
      </p:pic>
      <p:pic>
        <p:nvPicPr>
          <p:cNvPr id="3" name="Picture 2">
            <a:extLst>
              <a:ext uri="{FF2B5EF4-FFF2-40B4-BE49-F238E27FC236}">
                <a16:creationId xmlns:a16="http://schemas.microsoft.com/office/drawing/2014/main" id="{734AEFE4-265A-A395-6CB3-ECEBDA08145F}"/>
              </a:ext>
            </a:extLst>
          </p:cNvPr>
          <p:cNvPicPr>
            <a:picLocks noChangeAspect="1"/>
          </p:cNvPicPr>
          <p:nvPr/>
        </p:nvPicPr>
        <p:blipFill>
          <a:blip r:embed="rId4"/>
          <a:stretch>
            <a:fillRect/>
          </a:stretch>
        </p:blipFill>
        <p:spPr>
          <a:xfrm>
            <a:off x="3678984" y="2482042"/>
            <a:ext cx="8150262" cy="3619686"/>
          </a:xfrm>
          <a:prstGeom prst="rect">
            <a:avLst/>
          </a:prstGeom>
        </p:spPr>
      </p:pic>
    </p:spTree>
    <p:custDataLst>
      <p:tags r:id="rId1"/>
    </p:custDataLst>
    <p:extLst>
      <p:ext uri="{BB962C8B-B14F-4D97-AF65-F5344CB8AC3E}">
        <p14:creationId xmlns:p14="http://schemas.microsoft.com/office/powerpoint/2010/main" val="18601586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C4E31-32FC-4A23-CEF9-98F0BB9F13E9}"/>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8334EF5D-2E2A-7FE5-06C6-01ACAB1F420F}"/>
              </a:ext>
            </a:extLst>
          </p:cNvPr>
          <p:cNvSpPr>
            <a:spLocks noGrp="1"/>
          </p:cNvSpPr>
          <p:nvPr>
            <p:ph type="title"/>
          </p:nvPr>
        </p:nvSpPr>
        <p:spPr>
          <a:xfrm>
            <a:off x="538248" y="383051"/>
            <a:ext cx="5929053" cy="1325563"/>
          </a:xfrm>
        </p:spPr>
        <p:txBody>
          <a:bodyPr anchor="ctr">
            <a:normAutofit/>
          </a:bodyPr>
          <a:lstStyle/>
          <a:p>
            <a:r>
              <a:rPr lang="en-US" dirty="0"/>
              <a:t> JOB POSTINGS</a:t>
            </a:r>
          </a:p>
        </p:txBody>
      </p:sp>
      <p:sp>
        <p:nvSpPr>
          <p:cNvPr id="10" name="Content Placeholder 2">
            <a:extLst>
              <a:ext uri="{FF2B5EF4-FFF2-40B4-BE49-F238E27FC236}">
                <a16:creationId xmlns:a16="http://schemas.microsoft.com/office/drawing/2014/main" id="{83F79416-0AFB-FC80-07E8-3CF2B4E7E798}"/>
              </a:ext>
            </a:extLst>
          </p:cNvPr>
          <p:cNvSpPr txBox="1">
            <a:spLocks/>
          </p:cNvSpPr>
          <p:nvPr/>
        </p:nvSpPr>
        <p:spPr>
          <a:xfrm>
            <a:off x="914400" y="2191385"/>
            <a:ext cx="10489276" cy="286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a:buNone/>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In Module 1 you have collected the job posting data using Job API in a file named “</a:t>
            </a:r>
            <a:r>
              <a:rPr kumimoji="0" lang="en-IN" sz="24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job-postings.xlsx</a:t>
            </a: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Present that data using a bar chart here. Order the bar chart in the descending order of the number of job postings.</a:t>
            </a:r>
          </a:p>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endParaRPr>
          </a:p>
        </p:txBody>
      </p:sp>
      <p:pic>
        <p:nvPicPr>
          <p:cNvPr id="5" name="Picture 4">
            <a:extLst>
              <a:ext uri="{FF2B5EF4-FFF2-40B4-BE49-F238E27FC236}">
                <a16:creationId xmlns:a16="http://schemas.microsoft.com/office/drawing/2014/main" id="{92BBBEE3-8F4A-1B2F-1173-AFA3F48AFC85}"/>
              </a:ext>
            </a:extLst>
          </p:cNvPr>
          <p:cNvPicPr>
            <a:picLocks noChangeAspect="1"/>
          </p:cNvPicPr>
          <p:nvPr/>
        </p:nvPicPr>
        <p:blipFill>
          <a:blip r:embed="rId3"/>
          <a:stretch>
            <a:fillRect/>
          </a:stretch>
        </p:blipFill>
        <p:spPr>
          <a:xfrm>
            <a:off x="788324" y="3127523"/>
            <a:ext cx="4883401" cy="2921150"/>
          </a:xfrm>
          <a:prstGeom prst="rect">
            <a:avLst/>
          </a:prstGeom>
        </p:spPr>
      </p:pic>
    </p:spTree>
    <p:custDataLst>
      <p:tags r:id="rId1"/>
    </p:custDataLst>
    <p:extLst>
      <p:ext uri="{BB962C8B-B14F-4D97-AF65-F5344CB8AC3E}">
        <p14:creationId xmlns:p14="http://schemas.microsoft.com/office/powerpoint/2010/main" val="19353738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DB558-7141-B0CE-D399-712C1073BFD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12CF5900-71B3-70B0-7CF1-4A1C535AD04B}"/>
              </a:ext>
            </a:extLst>
          </p:cNvPr>
          <p:cNvSpPr>
            <a:spLocks noGrp="1"/>
          </p:cNvSpPr>
          <p:nvPr>
            <p:ph type="title"/>
          </p:nvPr>
        </p:nvSpPr>
        <p:spPr>
          <a:xfrm>
            <a:off x="538248" y="383051"/>
            <a:ext cx="5929053" cy="1325563"/>
          </a:xfrm>
        </p:spPr>
        <p:txBody>
          <a:bodyPr anchor="ctr">
            <a:normAutofit/>
          </a:bodyPr>
          <a:lstStyle/>
          <a:p>
            <a:r>
              <a:rPr lang="en-US" dirty="0"/>
              <a:t>POPULAR LANGUAGES</a:t>
            </a:r>
          </a:p>
        </p:txBody>
      </p:sp>
      <p:sp>
        <p:nvSpPr>
          <p:cNvPr id="7" name="Content Placeholder 2">
            <a:extLst>
              <a:ext uri="{FF2B5EF4-FFF2-40B4-BE49-F238E27FC236}">
                <a16:creationId xmlns:a16="http://schemas.microsoft.com/office/drawing/2014/main" id="{95B1AABA-34AF-B1F5-3C7F-11AEB9E03637}"/>
              </a:ext>
            </a:extLst>
          </p:cNvPr>
          <p:cNvSpPr txBox="1">
            <a:spLocks/>
          </p:cNvSpPr>
          <p:nvPr/>
        </p:nvSpPr>
        <p:spPr>
          <a:xfrm>
            <a:off x="878305" y="2191385"/>
            <a:ext cx="10525371" cy="286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a:buNone/>
              <a:tabLst/>
              <a:defRPr/>
            </a:pP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In Module 1 you have collected the job postings data using web scraping in a file named “</a:t>
            </a:r>
            <a:r>
              <a:rPr kumimoji="0" lang="en-IN" sz="24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popular-languages.csv</a:t>
            </a:r>
            <a:r>
              <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rPr>
              <a:t>”. Present that data using a bar chart here. Order the bar chart in the descending order of salary.</a:t>
            </a:r>
          </a:p>
          <a:p>
            <a:pPr marL="0" marR="0" lvl="0" indent="0" algn="l" defTabSz="914400" rtl="0" eaLnBrk="1" fontAlgn="auto" latinLnBrk="0" hangingPunct="1">
              <a:lnSpc>
                <a:spcPct val="90000"/>
              </a:lnSpc>
              <a:spcBef>
                <a:spcPts val="1000"/>
              </a:spcBef>
              <a:spcAft>
                <a:spcPts val="0"/>
              </a:spcAft>
              <a:buClrTx/>
              <a:buSzTx/>
              <a:buFont typeface="Arial"/>
              <a:buNone/>
              <a:tabLst/>
              <a:defRPr/>
            </a:pPr>
            <a:endParaRPr kumimoji="0" lang="en-US" sz="2200" b="0" i="0" u="none" strike="noStrike" kern="1200" cap="none" spc="0" normalizeH="0" baseline="0" noProof="0" dirty="0">
              <a:ln>
                <a:noFill/>
              </a:ln>
              <a:solidFill>
                <a:srgbClr val="262626"/>
              </a:solidFill>
              <a:effectLst/>
              <a:uLnTx/>
              <a:uFillTx/>
              <a:latin typeface="IBM Plex Sans" panose="020B0503050203000203" pitchFamily="34" charset="0"/>
              <a:ea typeface="+mn-ea"/>
              <a:cs typeface="+mn-cs"/>
            </a:endParaRPr>
          </a:p>
        </p:txBody>
      </p:sp>
      <p:pic>
        <p:nvPicPr>
          <p:cNvPr id="3" name="Picture 2">
            <a:extLst>
              <a:ext uri="{FF2B5EF4-FFF2-40B4-BE49-F238E27FC236}">
                <a16:creationId xmlns:a16="http://schemas.microsoft.com/office/drawing/2014/main" id="{0686468A-FA9F-0379-EA8D-8E54570ADE73}"/>
              </a:ext>
            </a:extLst>
          </p:cNvPr>
          <p:cNvPicPr>
            <a:picLocks noChangeAspect="1"/>
          </p:cNvPicPr>
          <p:nvPr/>
        </p:nvPicPr>
        <p:blipFill>
          <a:blip r:embed="rId3"/>
          <a:stretch>
            <a:fillRect/>
          </a:stretch>
        </p:blipFill>
        <p:spPr>
          <a:xfrm>
            <a:off x="878305" y="3163074"/>
            <a:ext cx="4826248" cy="2940201"/>
          </a:xfrm>
          <a:prstGeom prst="rect">
            <a:avLst/>
          </a:prstGeom>
        </p:spPr>
      </p:pic>
    </p:spTree>
    <p:custDataLst>
      <p:tags r:id="rId1"/>
    </p:custDataLst>
    <p:extLst>
      <p:ext uri="{BB962C8B-B14F-4D97-AF65-F5344CB8AC3E}">
        <p14:creationId xmlns:p14="http://schemas.microsoft.com/office/powerpoint/2010/main" val="19459025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SLIDE_TEMPLATE_skill_network">
  <a:themeElements>
    <a:clrScheme name="IBM Skills Network">
      <a:dk1>
        <a:srgbClr val="262626"/>
      </a:dk1>
      <a:lt1>
        <a:srgbClr val="525252"/>
      </a:lt1>
      <a:dk2>
        <a:srgbClr val="FFFFFF"/>
      </a:dk2>
      <a:lt2>
        <a:srgbClr val="FFFFFF"/>
      </a:lt2>
      <a:accent1>
        <a:srgbClr val="6C4DEA"/>
      </a:accent1>
      <a:accent2>
        <a:srgbClr val="82CFFF"/>
      </a:accent2>
      <a:accent3>
        <a:srgbClr val="FF7EB6"/>
      </a:accent3>
      <a:accent4>
        <a:srgbClr val="3DDBD9"/>
      </a:accent4>
      <a:accent5>
        <a:srgbClr val="5B9BD5"/>
      </a:accent5>
      <a:accent6>
        <a:srgbClr val="525252"/>
      </a:accent6>
      <a:hlink>
        <a:srgbClr val="C1C7CD"/>
      </a:hlink>
      <a:folHlink>
        <a:srgbClr val="DA1E28"/>
      </a:folHlink>
    </a:clrScheme>
    <a:fontScheme name="IBM Skills Network">
      <a:majorFont>
        <a:latin typeface="IBM Plex Sans SemiBold"/>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BM Skills Network PPT Template 01.2023.pptx" id="{565886F7-76CC-4370-877F-2511E1EB1B28}" vid="{AD061E48-3596-4052-9172-46F1919207B4}"/>
    </a:ext>
  </a:extLst>
</a:theme>
</file>

<file path=docProps/app.xml><?xml version="1.0" encoding="utf-8"?>
<Properties xmlns="http://schemas.openxmlformats.org/officeDocument/2006/extended-properties" xmlns:vt="http://schemas.openxmlformats.org/officeDocument/2006/docPropsVTypes">
  <TotalTime>0</TotalTime>
  <Words>989</Words>
  <Application>Microsoft Office PowerPoint</Application>
  <PresentationFormat>Widescreen</PresentationFormat>
  <Paragraphs>106</Paragraphs>
  <Slides>20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Arial</vt:lpstr>
      <vt:lpstr>Helv</vt:lpstr>
      <vt:lpstr>IBM Plex Mono</vt:lpstr>
      <vt:lpstr>IBM Plex Mono Text</vt:lpstr>
      <vt:lpstr>IBM Plex Sans</vt:lpstr>
      <vt:lpstr>IBM Plex Sans SemiBold</vt:lpstr>
      <vt:lpstr>Monaco</vt:lpstr>
      <vt:lpstr>SLIDE_TEMPLATE_skill_network</vt:lpstr>
      <vt:lpstr>Survey Data Analysis  </vt:lpstr>
      <vt:lpstr>PowerPoint Presentation</vt:lpstr>
      <vt:lpstr>EXECUTIVE SUMMARY</vt:lpstr>
      <vt:lpstr>INTRODUCTION</vt:lpstr>
      <vt:lpstr>METHODOLOGY</vt:lpstr>
      <vt:lpstr>RESULTS</vt:lpstr>
      <vt:lpstr>PROGRAMMING LANGUAGE TRENDS</vt:lpstr>
      <vt:lpstr>PROGRAMMING LANGUAGE TRENDS - FINDINGS &amp; IMPLICATIONS</vt:lpstr>
      <vt:lpstr>DATABASE TRENDS</vt:lpstr>
      <vt:lpstr>DATABASE TRENDS - FINDINGS &amp; IMPLICATIONS</vt:lpstr>
      <vt:lpstr>DASHBOARD</vt:lpstr>
      <vt:lpstr>DASHBOARD TAB 1</vt:lpstr>
      <vt:lpstr>DASHBOARD TAB 2</vt:lpstr>
      <vt:lpstr>DASHBOARD TAB 3</vt:lpstr>
      <vt:lpstr>DISCUSSION</vt:lpstr>
      <vt:lpstr>OVERALL FINDINGS &amp; IMPLICATIONS</vt:lpstr>
      <vt:lpstr>CONCLUSION</vt:lpstr>
      <vt:lpstr>APPENDIX</vt:lpstr>
      <vt:lpstr> JOB POSTINGS</vt:lpstr>
      <vt:lpstr>POPULAR LANGUAGES</vt:lpstr>
    </vt:vector>
  </TitlesOfParts>
  <Company>Idorsia Pharmaceuticals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Gulam Siddiqui</dc:creator>
  <cp:lastModifiedBy>Gulam Siddiqui</cp:lastModifiedBy>
  <cp:revision>2</cp:revision>
  <dcterms:created xsi:type="dcterms:W3CDTF">2025-01-03T01:43:44Z</dcterms:created>
  <dcterms:modified xsi:type="dcterms:W3CDTF">2025-01-05T01:29:16Z</dcterms:modified>
</cp:coreProperties>
</file>