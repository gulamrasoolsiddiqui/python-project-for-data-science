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23" autoAdjust="0"/>
    <p:restoredTop sz="94660"/>
  </p:normalViewPr>
  <p:slideViewPr>
    <p:cSldViewPr snapToGrid="0">
      <p:cViewPr varScale="1">
        <p:scale>
          <a:sx n="117" d="100"/>
          <a:sy n="117" d="100"/>
        </p:scale>
        <p:origin x="-21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dirty="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813130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216849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1643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989154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321905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7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8"/>
    </p:custDataLst>
    <p:extLst>
      <p:ext uri="{BB962C8B-B14F-4D97-AF65-F5344CB8AC3E}">
        <p14:creationId xmlns:p14="http://schemas.microsoft.com/office/powerpoint/2010/main" val="3651015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GulamRasoolSiddiqui/Python-Project-for-Data-Science/blob/main/Survey%20Dashboard.pdf" TargetMode="External"/><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757825" y="1168401"/>
            <a:ext cx="9135454" cy="2387600"/>
          </a:xfrm>
          <a:noFill/>
        </p:spPr>
        <p:txBody>
          <a:bodyPr/>
          <a:lstStyle/>
          <a:p>
            <a:r>
              <a:rPr lang="en-US" dirty="0"/>
              <a:t>Survey Data Analysis</a:t>
            </a:r>
            <a:br>
              <a:rPr lang="en-US" dirty="0"/>
            </a:br>
            <a:r>
              <a:rPr lang="en-US" sz="1400" dirty="0"/>
              <a:t> </a:t>
            </a:r>
            <a:endParaRPr lang="en-US" dirty="0"/>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110027" y="3731247"/>
            <a:ext cx="9135454" cy="1655762"/>
          </a:xfrm>
          <a:noFill/>
        </p:spPr>
        <p:txBody>
          <a:bodyPr/>
          <a:lstStyle/>
          <a:p>
            <a:endParaRPr lang="en-US" dirty="0"/>
          </a:p>
          <a:p>
            <a:r>
              <a:rPr lang="en-US" dirty="0"/>
              <a:t>Part 1</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
        <p:nvSpPr>
          <p:cNvPr id="6" name="TextBox 5">
            <a:extLst>
              <a:ext uri="{FF2B5EF4-FFF2-40B4-BE49-F238E27FC236}">
                <a16:creationId xmlns:a16="http://schemas.microsoft.com/office/drawing/2014/main" id="{D8699CF7-DA14-54B2-8C16-A5EAB91A2F55}"/>
              </a:ext>
            </a:extLst>
          </p:cNvPr>
          <p:cNvSpPr txBox="1"/>
          <p:nvPr/>
        </p:nvSpPr>
        <p:spPr>
          <a:xfrm>
            <a:off x="4568869" y="3263613"/>
            <a:ext cx="338724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IBM Plex Sans SemiBold"/>
                <a:ea typeface="+mn-ea"/>
                <a:cs typeface="+mn-cs"/>
              </a:rPr>
              <a:t>Gulam Rasool Siddiqui</a:t>
            </a:r>
            <a:br>
              <a:rPr kumimoji="0" lang="en-US" sz="1400" b="1" i="0" u="none" strike="noStrike" kern="1200" cap="none" spc="0" normalizeH="0" baseline="0" noProof="0" dirty="0">
                <a:ln>
                  <a:noFill/>
                </a:ln>
                <a:solidFill>
                  <a:srgbClr val="002060"/>
                </a:solidFill>
                <a:effectLst/>
                <a:uLnTx/>
                <a:uFillTx/>
                <a:latin typeface="IBM Plex Sans SemiBold"/>
                <a:ea typeface="+mn-ea"/>
                <a:cs typeface="+mn-cs"/>
              </a:rPr>
            </a:br>
            <a:r>
              <a:rPr kumimoji="0" lang="en-US" sz="1400" b="1" i="0" u="none" strike="noStrike" kern="1200" cap="none" spc="0" normalizeH="0" baseline="0" noProof="0" dirty="0">
                <a:ln>
                  <a:noFill/>
                </a:ln>
                <a:solidFill>
                  <a:srgbClr val="002060"/>
                </a:solidFill>
                <a:effectLst/>
                <a:uLnTx/>
                <a:uFillTx/>
                <a:latin typeface="IBM Plex Sans SemiBold"/>
                <a:ea typeface="+mn-ea"/>
                <a:cs typeface="+mn-cs"/>
              </a:rPr>
              <a:t>01/02/2025</a:t>
            </a:r>
          </a:p>
        </p:txBody>
      </p:sp>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525252"/>
                </a:solidFill>
                <a:effectLst/>
                <a:uLnTx/>
                <a:uFillTx/>
                <a:latin typeface="IBM Plex Sans SemiBold" panose="020B0503050203000203" pitchFamily="34" charset="0"/>
              </a:rPr>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Executive Summary</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Introduction</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Methodology</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Results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Visualization – Charts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Dashboard</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Discussion</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Findings &amp; Implications</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Conclusion</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825624"/>
            <a:ext cx="7068725" cy="44654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16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Key Findings Highlights</a:t>
            </a:r>
            <a:r>
              <a:rPr kumimoji="0" lang="en-US" sz="16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Current Top 10 Programming Language Preference</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83% of respondents are satisfied with the HTML/CSS, JavaScript and TypeScript, while 10% more respondents are eager to learn SQL and C#.</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Database Top 10 Preferences</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200" dirty="0"/>
              <a:t>Over 90% of respondents prefer to work with PostgreSQL, and the preference is similar for those who want to use a database.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Platform Top 10 Preferences</a:t>
            </a:r>
            <a:r>
              <a:rPr kumimoji="0" lang="en-US" sz="105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050" dirty="0"/>
              <a:t>Most of respondents prefer to work with AWS and then with Azure, and the preference is similar for those who want to use a platform.</a:t>
            </a:r>
          </a:p>
          <a:p>
            <a:pPr lvl="1">
              <a:buFont typeface="Arial" panose="020B0604020202020204" pitchFamily="34" charset="0"/>
              <a:buChar char="•"/>
              <a:defRPr/>
            </a:pPr>
            <a:r>
              <a:rPr kumimoji="0" lang="en-US" sz="1050" b="1" i="0" u="none" strike="noStrike" kern="1200" cap="none" spc="0" normalizeH="0" baseline="0" noProof="0" dirty="0" err="1">
                <a:ln>
                  <a:noFill/>
                </a:ln>
                <a:solidFill>
                  <a:srgbClr val="262626"/>
                </a:solidFill>
                <a:effectLst/>
                <a:uLnTx/>
                <a:uFillTx/>
                <a:latin typeface="IBM Plex Sans" panose="020B0503050203000203" pitchFamily="34" charset="0"/>
                <a:ea typeface="+mn-ea"/>
                <a:cs typeface="+mn-cs"/>
              </a:rPr>
              <a:t>WebFrame</a:t>
            </a:r>
            <a:r>
              <a:rPr kumimoji="0" lang="en-US" sz="105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Top 10 Preferences</a:t>
            </a:r>
            <a:r>
              <a:rPr kumimoji="0" lang="en-US" sz="105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050" dirty="0"/>
              <a:t>Most of respondents prefer to work with Spring Boot and then with React, and the preference is similar for those who want to use a </a:t>
            </a:r>
            <a:r>
              <a:rPr lang="en-US" sz="1050" dirty="0" err="1"/>
              <a:t>WebFrame</a:t>
            </a:r>
            <a:r>
              <a:rPr lang="en-US" sz="1050" dirty="0"/>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1200" b="1" dirty="0"/>
              <a:t>Overall Respondents</a:t>
            </a: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Perception</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200" dirty="0"/>
              <a:t>It appears that most respondents are from the USA, with nearly 70% aged between 25 and 44 years. Most of them hold an associate's or master's degree.</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16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Survey Scope and Objectives</a:t>
            </a:r>
            <a:r>
              <a:rPr kumimoji="0" lang="en-US" sz="16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Scope</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This survey was conducted globally across multiple countries, with a sample size of 18K+ respondents from different industries, including retail, finance, </a:t>
            </a:r>
            <a:r>
              <a:rPr kumimoji="0" lang="en-US" sz="1200" b="0" i="0" u="none" strike="noStrike" kern="1200" cap="none" spc="0" normalizeH="0" baseline="0" noProof="0" dirty="0" err="1">
                <a:ln>
                  <a:noFill/>
                </a:ln>
                <a:solidFill>
                  <a:srgbClr val="262626"/>
                </a:solidFill>
                <a:effectLst/>
                <a:uLnTx/>
                <a:uFillTx/>
                <a:latin typeface="IBM Plex Sans" panose="020B0503050203000203" pitchFamily="34" charset="0"/>
                <a:ea typeface="+mn-ea"/>
                <a:cs typeface="+mn-cs"/>
              </a:rPr>
              <a:t>Helthcare</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and technology.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Objectives</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200" dirty="0"/>
              <a:t>The primary aim was to measure which platform, language, web framework, and overall respondent engagement were involved in the survey.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Methodology</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The survey was administered via online questionnaires and supplemented with in-depth interviews.</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16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Impact Metrics</a:t>
            </a:r>
            <a:r>
              <a:rPr kumimoji="0" lang="en-US" sz="16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1200" b="1" dirty="0"/>
              <a:t>Respondents</a:t>
            </a: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Engagement</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200" dirty="0"/>
              <a:t>Respondents' interest appears to be the same for both current and future tools.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Actionable Insights</a:t>
            </a:r>
            <a:r>
              <a:rPr kumimoji="0" lang="en-US" sz="1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a:t>
            </a:r>
            <a:r>
              <a:rPr lang="en-US" sz="1200" dirty="0"/>
              <a:t>The analysis shows that further investment in cloud technology and support for higher education opportunities will lead to greater success for respondents.</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endPar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endParaRP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lang="en-US" sz="1600" b="0" i="0" dirty="0">
                <a:solidFill>
                  <a:srgbClr val="343A4D"/>
                </a:solidFill>
                <a:effectLst/>
                <a:latin typeface="Monaco"/>
              </a:rPr>
              <a:t>Systematic Collection of Data from Targeted Respondents </a:t>
            </a:r>
          </a:p>
          <a:p>
            <a:pPr lvl="1">
              <a:spcBef>
                <a:spcPts val="1000"/>
              </a:spcBef>
            </a:pPr>
            <a:r>
              <a:rPr lang="en-US" sz="1200" b="0" i="0" dirty="0">
                <a:solidFill>
                  <a:srgbClr val="343A4D"/>
                </a:solidFill>
                <a:effectLst/>
                <a:latin typeface="Monaco"/>
              </a:rPr>
              <a:t>Structured approach using standardized questions and methods. </a:t>
            </a:r>
          </a:p>
          <a:p>
            <a:pPr lvl="1">
              <a:spcBef>
                <a:spcPts val="1000"/>
              </a:spcBef>
            </a:pPr>
            <a:r>
              <a:rPr lang="en-US" sz="1200" b="0" i="0" dirty="0">
                <a:solidFill>
                  <a:srgbClr val="343A4D"/>
                </a:solidFill>
                <a:effectLst/>
                <a:latin typeface="Monaco"/>
              </a:rPr>
              <a:t>Carefully selected respondent groups based on demographic criteria. </a:t>
            </a:r>
          </a:p>
          <a:p>
            <a:pPr lvl="1">
              <a:spcBef>
                <a:spcPts val="1000"/>
              </a:spcBef>
            </a:pPr>
            <a:r>
              <a:rPr lang="en-US" sz="1200" b="0" i="0" dirty="0">
                <a:solidFill>
                  <a:srgbClr val="343A4D"/>
                </a:solidFill>
                <a:effectLst/>
                <a:latin typeface="Monaco"/>
              </a:rPr>
              <a:t>Organized data gathering process with defined timelines. </a:t>
            </a:r>
          </a:p>
          <a:p>
            <a:pPr lvl="1">
              <a:spcBef>
                <a:spcPts val="1000"/>
              </a:spcBef>
            </a:pPr>
            <a:r>
              <a:rPr lang="en-US" sz="1200" b="0" i="0" dirty="0">
                <a:solidFill>
                  <a:srgbClr val="343A4D"/>
                </a:solidFill>
                <a:effectLst/>
                <a:latin typeface="Monaco"/>
              </a:rPr>
              <a:t>Quality control measures throughout collection phases. </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lang="en-US" sz="1600" b="0" i="0" dirty="0">
                <a:solidFill>
                  <a:srgbClr val="343A4D"/>
                </a:solidFill>
                <a:effectLst/>
                <a:latin typeface="Monaco"/>
              </a:rPr>
              <a:t>Primary Research Method for Gathering Direct Insights </a:t>
            </a:r>
          </a:p>
          <a:p>
            <a:pPr lvl="1">
              <a:spcBef>
                <a:spcPts val="1000"/>
              </a:spcBef>
            </a:pPr>
            <a:r>
              <a:rPr lang="en-US" sz="1200" b="0" i="0" dirty="0">
                <a:solidFill>
                  <a:srgbClr val="343A4D"/>
                </a:solidFill>
                <a:effectLst/>
                <a:latin typeface="Monaco"/>
              </a:rPr>
              <a:t>First-hand information from actual users/customers. </a:t>
            </a:r>
          </a:p>
          <a:p>
            <a:pPr lvl="1">
              <a:spcBef>
                <a:spcPts val="1000"/>
              </a:spcBef>
            </a:pPr>
            <a:r>
              <a:rPr lang="en-US" sz="1200" b="0" i="0" dirty="0">
                <a:solidFill>
                  <a:srgbClr val="343A4D"/>
                </a:solidFill>
                <a:effectLst/>
                <a:latin typeface="Monaco"/>
              </a:rPr>
              <a:t>Unfiltered feedback from target audience. </a:t>
            </a:r>
          </a:p>
          <a:p>
            <a:pPr lvl="1">
              <a:spcBef>
                <a:spcPts val="1000"/>
              </a:spcBef>
            </a:pPr>
            <a:r>
              <a:rPr lang="en-US" sz="1200" b="0" i="0" dirty="0">
                <a:solidFill>
                  <a:srgbClr val="343A4D"/>
                </a:solidFill>
                <a:effectLst/>
                <a:latin typeface="Monaco"/>
              </a:rPr>
              <a:t>Direct measurement of respondent interest.</a:t>
            </a:r>
          </a:p>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lang="en-US" sz="1600" b="0" i="0" dirty="0">
                <a:solidFill>
                  <a:srgbClr val="343A4D"/>
                </a:solidFill>
                <a:effectLst/>
                <a:latin typeface="Monaco"/>
              </a:rPr>
              <a:t>Tool for Evidence-Based Decision Making </a:t>
            </a:r>
          </a:p>
          <a:p>
            <a:pPr lvl="1"/>
            <a:r>
              <a:rPr lang="en-US" sz="1200" dirty="0">
                <a:solidFill>
                  <a:srgbClr val="343A4D"/>
                </a:solidFill>
                <a:latin typeface="Monaco"/>
              </a:rPr>
              <a:t>Quantifiable metrics for platform and language usage.</a:t>
            </a:r>
          </a:p>
          <a:p>
            <a:pPr lvl="1"/>
            <a:r>
              <a:rPr lang="en-US" sz="1200" dirty="0">
                <a:solidFill>
                  <a:srgbClr val="343A4D"/>
                </a:solidFill>
                <a:latin typeface="Monaco"/>
              </a:rPr>
              <a:t>Statistical validation of age and education levels.</a:t>
            </a:r>
          </a:p>
          <a:p>
            <a:pPr lvl="1"/>
            <a:r>
              <a:rPr lang="en-US" sz="1200" dirty="0">
                <a:solidFill>
                  <a:srgbClr val="343A4D"/>
                </a:solidFill>
                <a:latin typeface="Monaco"/>
              </a:rPr>
              <a:t>Data-driven approach to analyze current vs. future IT tools usage.</a:t>
            </a:r>
          </a:p>
          <a:p>
            <a:pPr lvl="1"/>
            <a:r>
              <a:rPr lang="en-US" sz="1200" dirty="0">
                <a:solidFill>
                  <a:srgbClr val="343A4D"/>
                </a:solidFill>
                <a:latin typeface="Monaco"/>
              </a:rPr>
              <a:t>Measurable outcomes for ROI calculations, enabling institutions to focus on platforms, programming languages, databases, age, and education levels.</a:t>
            </a:r>
          </a:p>
          <a:p>
            <a:pPr marL="0" marR="0" lvl="0" indent="0" algn="l" defTabSz="914400" rtl="0" eaLnBrk="1" fontAlgn="auto" latinLnBrk="0" hangingPunct="1">
              <a:lnSpc>
                <a:spcPct val="90000"/>
              </a:lnSpc>
              <a:spcBef>
                <a:spcPts val="1000"/>
              </a:spcBef>
              <a:spcAft>
                <a:spcPts val="0"/>
              </a:spcAft>
              <a:buClrTx/>
              <a:buSzTx/>
              <a:buNone/>
              <a:tabLst/>
              <a:defRPr/>
            </a:pPr>
            <a:endParaRPr lang="en-US" sz="1600" b="0" i="0" dirty="0">
              <a:solidFill>
                <a:srgbClr val="343A4D"/>
              </a:solidFill>
              <a:effectLst/>
              <a:latin typeface="Monaco"/>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825625"/>
            <a:ext cx="7068725"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200" dirty="0">
                <a:solidFill>
                  <a:srgbClr val="343A4D"/>
                </a:solidFill>
                <a:latin typeface="Monaco"/>
              </a:rPr>
              <a:t>Research Design </a:t>
            </a:r>
          </a:p>
          <a:p>
            <a:pPr lvl="1">
              <a:spcBef>
                <a:spcPts val="1000"/>
              </a:spcBef>
            </a:pPr>
            <a:r>
              <a:rPr lang="en-US" sz="1200" dirty="0">
                <a:solidFill>
                  <a:srgbClr val="343A4D"/>
                </a:solidFill>
                <a:latin typeface="Monaco"/>
              </a:rPr>
              <a:t>Selection of survey type (descriptive, exploratory, causal) </a:t>
            </a:r>
          </a:p>
          <a:p>
            <a:pPr lvl="1">
              <a:spcBef>
                <a:spcPts val="1000"/>
              </a:spcBef>
            </a:pPr>
            <a:r>
              <a:rPr lang="en-US" sz="1200" dirty="0">
                <a:solidFill>
                  <a:srgbClr val="343A4D"/>
                </a:solidFill>
                <a:latin typeface="Monaco"/>
              </a:rPr>
              <a:t>Determination of data collection frequency </a:t>
            </a:r>
          </a:p>
          <a:p>
            <a:pPr lvl="1">
              <a:spcBef>
                <a:spcPts val="1000"/>
              </a:spcBef>
            </a:pPr>
            <a:r>
              <a:rPr lang="en-US" sz="1200" dirty="0">
                <a:solidFill>
                  <a:srgbClr val="343A4D"/>
                </a:solidFill>
                <a:latin typeface="Monaco"/>
              </a:rPr>
              <a:t>Setting measurement parameters </a:t>
            </a:r>
          </a:p>
          <a:p>
            <a:pPr lvl="1">
              <a:spcBef>
                <a:spcPts val="1000"/>
              </a:spcBef>
            </a:pPr>
            <a:r>
              <a:rPr lang="en-US" sz="1200" dirty="0">
                <a:solidFill>
                  <a:srgbClr val="343A4D"/>
                </a:solidFill>
                <a:latin typeface="Monaco"/>
              </a:rPr>
              <a:t>Establishing research timeline </a:t>
            </a:r>
          </a:p>
          <a:p>
            <a:r>
              <a:rPr lang="en-US" sz="1200" dirty="0">
                <a:solidFill>
                  <a:srgbClr val="343A4D"/>
                </a:solidFill>
                <a:latin typeface="Monaco"/>
              </a:rPr>
              <a:t>Sampling Framework </a:t>
            </a:r>
          </a:p>
          <a:p>
            <a:pPr lvl="1">
              <a:spcBef>
                <a:spcPts val="1000"/>
              </a:spcBef>
            </a:pPr>
            <a:r>
              <a:rPr lang="en-US" sz="1200" dirty="0">
                <a:solidFill>
                  <a:srgbClr val="343A4D"/>
                </a:solidFill>
                <a:latin typeface="Monaco"/>
              </a:rPr>
              <a:t>Geographic and demographic considerations </a:t>
            </a:r>
          </a:p>
          <a:p>
            <a:pPr lvl="1">
              <a:spcBef>
                <a:spcPts val="1000"/>
              </a:spcBef>
            </a:pPr>
            <a:r>
              <a:rPr lang="en-US" sz="1200" dirty="0">
                <a:solidFill>
                  <a:srgbClr val="343A4D"/>
                </a:solidFill>
                <a:latin typeface="Monaco"/>
              </a:rPr>
              <a:t>Target population identification </a:t>
            </a:r>
          </a:p>
          <a:p>
            <a:pPr lvl="1">
              <a:spcBef>
                <a:spcPts val="1000"/>
              </a:spcBef>
            </a:pPr>
            <a:r>
              <a:rPr lang="en-US" sz="1200" dirty="0">
                <a:solidFill>
                  <a:srgbClr val="343A4D"/>
                </a:solidFill>
                <a:latin typeface="Monaco"/>
              </a:rPr>
              <a:t>Inclusion/exclusion criteria</a:t>
            </a:r>
          </a:p>
          <a:p>
            <a:pPr lvl="1">
              <a:spcBef>
                <a:spcPts val="1000"/>
              </a:spcBef>
            </a:pPr>
            <a:r>
              <a:rPr lang="en-US" sz="1200" dirty="0">
                <a:solidFill>
                  <a:srgbClr val="343A4D"/>
                </a:solidFill>
                <a:latin typeface="Monaco"/>
              </a:rPr>
              <a:t>Sampling technique selection like  Random, Stratified, Cluster and Systematic sampling</a:t>
            </a:r>
          </a:p>
          <a:p>
            <a:r>
              <a:rPr lang="en-US" sz="1200" dirty="0">
                <a:solidFill>
                  <a:srgbClr val="343A4D"/>
                </a:solidFill>
                <a:latin typeface="Monaco"/>
              </a:rPr>
              <a:t>Data Collection Methods </a:t>
            </a:r>
          </a:p>
          <a:p>
            <a:pPr lvl="1">
              <a:spcBef>
                <a:spcPts val="1000"/>
              </a:spcBef>
            </a:pPr>
            <a:r>
              <a:rPr lang="en-US" sz="1200" dirty="0">
                <a:solidFill>
                  <a:srgbClr val="343A4D"/>
                </a:solidFill>
                <a:latin typeface="Monaco"/>
              </a:rPr>
              <a:t>Online surveys (web-based, email) , Telephone interviews (CATI) , Face-to-face interviews , Mobile surveys, Paper-based questionnaires  and Mixed-mode approaches</a:t>
            </a:r>
          </a:p>
          <a:p>
            <a:r>
              <a:rPr lang="en-US" sz="1200" dirty="0">
                <a:solidFill>
                  <a:srgbClr val="343A4D"/>
                </a:solidFill>
                <a:latin typeface="Monaco"/>
              </a:rPr>
              <a:t>Questionnaire Design </a:t>
            </a:r>
          </a:p>
          <a:p>
            <a:pPr lvl="1"/>
            <a:r>
              <a:rPr lang="en-US" sz="1200" dirty="0">
                <a:solidFill>
                  <a:srgbClr val="343A4D"/>
                </a:solidFill>
                <a:latin typeface="Monaco"/>
              </a:rPr>
              <a:t>Question types (multiple choice, Likert scale, open-ended), Response options formatting, Skip logic implementation and Pilot testing procedures</a:t>
            </a:r>
          </a:p>
          <a:p>
            <a:r>
              <a:rPr lang="en-US" sz="1200" dirty="0">
                <a:solidFill>
                  <a:srgbClr val="343A4D"/>
                </a:solidFill>
                <a:latin typeface="Monaco"/>
              </a:rPr>
              <a:t>Quality Control Measures </a:t>
            </a:r>
          </a:p>
          <a:p>
            <a:pPr lvl="1"/>
            <a:r>
              <a:rPr lang="en-US" sz="1200" dirty="0">
                <a:solidFill>
                  <a:srgbClr val="343A4D"/>
                </a:solidFill>
                <a:latin typeface="Monaco"/>
              </a:rPr>
              <a:t>Data validation techniques, Response verification processes, Duplicate entry prevention, Missing data handling and Data cleaning protocols</a:t>
            </a:r>
          </a:p>
          <a:p>
            <a:r>
              <a:rPr lang="en-US" sz="1200" dirty="0">
                <a:solidFill>
                  <a:srgbClr val="343A4D"/>
                </a:solidFill>
                <a:latin typeface="Monaco"/>
              </a:rPr>
              <a:t>Documentation Standards</a:t>
            </a:r>
          </a:p>
          <a:p>
            <a:pPr lvl="1"/>
            <a:r>
              <a:rPr lang="en-US" sz="1200" dirty="0">
                <a:solidFill>
                  <a:srgbClr val="343A4D"/>
                </a:solidFill>
                <a:latin typeface="Monaco"/>
              </a:rPr>
              <a:t>Methodology documentation, Variable definitions, Data dictionary and Analysis procedures</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title"/>
          </p:nvPr>
        </p:nvSpPr>
        <p:spPr>
          <a:xfrm>
            <a:off x="838200" y="365125"/>
            <a:ext cx="10515600" cy="1325563"/>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27E1D05E-A3D3-356F-EB51-94E7A1AE2A61}"/>
              </a:ext>
            </a:extLst>
          </p:cNvPr>
          <p:cNvSpPr txBox="1">
            <a:spLocks/>
          </p:cNvSpPr>
          <p:nvPr/>
        </p:nvSpPr>
        <p:spPr>
          <a:xfrm>
            <a:off x="1043114"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1800" b="0" i="0" u="none" strike="noStrike" kern="1200" cap="none" spc="0" normalizeH="0" baseline="0" noProof="0">
              <a:ln>
                <a:noFill/>
              </a:ln>
              <a:solidFill>
                <a:srgbClr val="262626"/>
              </a:solidFill>
              <a:effectLst/>
              <a:uLnTx/>
              <a:uFillTx/>
              <a:latin typeface="IBM Plex Sans" panose="020B0503050203000203"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1800" b="0" i="0" u="none" strike="noStrike" kern="1200" cap="none" spc="0" normalizeH="0" baseline="0" noProof="0">
              <a:ln>
                <a:noFill/>
              </a:ln>
              <a:solidFill>
                <a:srgbClr val="262626"/>
              </a:solidFill>
              <a:effectLst/>
              <a:uLnTx/>
              <a:uFillTx/>
              <a:latin typeface="IBM Plex Sans" panose="020B0503050203000203"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18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endParaRPr>
          </a:p>
        </p:txBody>
      </p:sp>
      <p:pic>
        <p:nvPicPr>
          <p:cNvPr id="5" name="Picture 4">
            <a:extLst>
              <a:ext uri="{FF2B5EF4-FFF2-40B4-BE49-F238E27FC236}">
                <a16:creationId xmlns:a16="http://schemas.microsoft.com/office/drawing/2014/main" id="{A142B3B8-EE88-6745-2708-3EE45416E5D8}"/>
              </a:ext>
            </a:extLst>
          </p:cNvPr>
          <p:cNvPicPr>
            <a:picLocks noChangeAspect="1"/>
          </p:cNvPicPr>
          <p:nvPr/>
        </p:nvPicPr>
        <p:blipFill>
          <a:blip r:embed="rId3"/>
          <a:stretch>
            <a:fillRect/>
          </a:stretch>
        </p:blipFill>
        <p:spPr>
          <a:xfrm>
            <a:off x="500387" y="1397357"/>
            <a:ext cx="7379079" cy="4561891"/>
          </a:xfrm>
          <a:prstGeom prst="rect">
            <a:avLst/>
          </a:prstGeom>
        </p:spPr>
      </p:pic>
      <p:sp>
        <p:nvSpPr>
          <p:cNvPr id="6" name="Content Placeholder 3">
            <a:extLst>
              <a:ext uri="{FF2B5EF4-FFF2-40B4-BE49-F238E27FC236}">
                <a16:creationId xmlns:a16="http://schemas.microsoft.com/office/drawing/2014/main" id="{8AA973D8-4C86-8689-8650-160EA9D4012C}"/>
              </a:ext>
            </a:extLst>
          </p:cNvPr>
          <p:cNvSpPr txBox="1">
            <a:spLocks/>
          </p:cNvSpPr>
          <p:nvPr/>
        </p:nvSpPr>
        <p:spPr>
          <a:xfrm>
            <a:off x="7952703" y="1397357"/>
            <a:ext cx="4127679" cy="4779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t>Overall, it appears that respondents aged 24 to 35 with a bachelor's or master's degree share similar interests in programming languages, as shown in the line graph.</a:t>
            </a:r>
          </a:p>
        </p:txBody>
      </p:sp>
    </p:spTree>
    <p:custDataLst>
      <p:tags r:id="rId1"/>
    </p:custDataLst>
    <p:extLst>
      <p:ext uri="{BB962C8B-B14F-4D97-AF65-F5344CB8AC3E}">
        <p14:creationId xmlns:p14="http://schemas.microsoft.com/office/powerpoint/2010/main" val="221590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2200" b="0" i="0" u="none" strike="noStrike" kern="1200" cap="none" spc="0" normalizeH="0" baseline="0" noProof="0" dirty="0">
              <a:ln>
                <a:noFill/>
              </a:ln>
              <a:solidFill>
                <a:srgbClr val="262626"/>
              </a:solidFill>
              <a:effectLst/>
              <a:uLnTx/>
              <a:uFillTx/>
              <a:latin typeface="IBM Plex Mono Text" panose="020B0509050203000203" pitchFamily="49" charset="0"/>
              <a:ea typeface="+mn-ea"/>
              <a:cs typeface="+mn-cs"/>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2200" b="0" i="0" u="none" strike="noStrike" kern="1200" cap="none" spc="0" normalizeH="0" baseline="0" noProof="0" dirty="0">
              <a:ln>
                <a:noFill/>
              </a:ln>
              <a:solidFill>
                <a:srgbClr val="262626"/>
              </a:solidFill>
              <a:effectLst/>
              <a:uLnTx/>
              <a:uFillTx/>
              <a:latin typeface="IBM Plex Mono Text" panose="020B0509050203000203" pitchFamily="49" charset="0"/>
              <a:ea typeface="+mn-ea"/>
              <a:cs typeface="+mn-cs"/>
            </a:endParaRPr>
          </a:p>
        </p:txBody>
      </p:sp>
      <p:pic>
        <p:nvPicPr>
          <p:cNvPr id="17" name="Picture 16">
            <a:extLst>
              <a:ext uri="{FF2B5EF4-FFF2-40B4-BE49-F238E27FC236}">
                <a16:creationId xmlns:a16="http://schemas.microsoft.com/office/drawing/2014/main" id="{BF5F4926-B41D-32D8-BC3B-AD62484D3F88}"/>
              </a:ext>
            </a:extLst>
          </p:cNvPr>
          <p:cNvPicPr>
            <a:picLocks noChangeAspect="1"/>
          </p:cNvPicPr>
          <p:nvPr/>
        </p:nvPicPr>
        <p:blipFill>
          <a:blip r:embed="rId3"/>
          <a:stretch>
            <a:fillRect/>
          </a:stretch>
        </p:blipFill>
        <p:spPr>
          <a:xfrm>
            <a:off x="1" y="2357334"/>
            <a:ext cx="5257800" cy="3321221"/>
          </a:xfrm>
          <a:prstGeom prst="rect">
            <a:avLst/>
          </a:prstGeom>
        </p:spPr>
      </p:pic>
      <p:pic>
        <p:nvPicPr>
          <p:cNvPr id="19" name="Picture 18">
            <a:extLst>
              <a:ext uri="{FF2B5EF4-FFF2-40B4-BE49-F238E27FC236}">
                <a16:creationId xmlns:a16="http://schemas.microsoft.com/office/drawing/2014/main" id="{6B7D5544-EBD8-3E1B-E7A4-CE2A76FDC6A9}"/>
              </a:ext>
            </a:extLst>
          </p:cNvPr>
          <p:cNvPicPr>
            <a:picLocks noChangeAspect="1"/>
          </p:cNvPicPr>
          <p:nvPr/>
        </p:nvPicPr>
        <p:blipFill>
          <a:blip r:embed="rId4"/>
          <a:stretch>
            <a:fillRect/>
          </a:stretch>
        </p:blipFill>
        <p:spPr>
          <a:xfrm>
            <a:off x="5453148" y="2327564"/>
            <a:ext cx="5912154" cy="3321221"/>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2800"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b="0" i="0" dirty="0">
                <a:solidFill>
                  <a:srgbClr val="343A4D"/>
                </a:solidFill>
                <a:effectLst/>
                <a:latin typeface="Monaco"/>
              </a:rPr>
              <a:t>Web Development JavaScript/TypeScript dominate frontend</a:t>
            </a:r>
          </a:p>
          <a:p>
            <a:r>
              <a:rPr lang="en-US" b="0" i="0" dirty="0">
                <a:solidFill>
                  <a:srgbClr val="343A4D"/>
                </a:solidFill>
                <a:effectLst/>
                <a:latin typeface="Monaco"/>
              </a:rPr>
              <a:t>Future Growth Indicators: SQL and C# with web development</a:t>
            </a:r>
            <a:endParaRPr lang="en-US" dirty="0"/>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b="0" i="0" dirty="0">
                <a:solidFill>
                  <a:srgbClr val="343A4D"/>
                </a:solidFill>
                <a:effectLst/>
                <a:latin typeface="Monaco"/>
              </a:rPr>
              <a:t>Multi-language expertise increasingly valuable </a:t>
            </a:r>
          </a:p>
          <a:p>
            <a:r>
              <a:rPr lang="en-US" b="0" i="0" dirty="0">
                <a:solidFill>
                  <a:srgbClr val="343A4D"/>
                </a:solidFill>
                <a:effectLst/>
                <a:latin typeface="Monaco"/>
              </a:rPr>
              <a:t>Cloud-native development skills critical</a:t>
            </a:r>
            <a:endParaRPr lang="en-US" dirty="0"/>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2200" b="0" i="0" u="none" strike="noStrike" kern="1200" cap="none" spc="0" normalizeH="0" baseline="0" noProof="0" dirty="0">
              <a:ln>
                <a:noFill/>
              </a:ln>
              <a:solidFill>
                <a:srgbClr val="262626"/>
              </a:solidFill>
              <a:effectLst/>
              <a:uLnTx/>
              <a:uFillTx/>
              <a:latin typeface="IBM Plex Mono Text" panose="020B0509050203000203" pitchFamily="49" charset="0"/>
              <a:ea typeface="+mn-ea"/>
              <a:cs typeface="+mn-cs"/>
            </a:endParaRP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2200" b="0" i="0" u="none" strike="noStrike" kern="1200" cap="none" spc="0" normalizeH="0" baseline="0" noProof="0" dirty="0">
              <a:ln>
                <a:noFill/>
              </a:ln>
              <a:solidFill>
                <a:srgbClr val="262626"/>
              </a:solidFill>
              <a:effectLst/>
              <a:uLnTx/>
              <a:uFillTx/>
              <a:latin typeface="IBM Plex Mono Text" panose="020B0509050203000203" pitchFamily="49" charset="0"/>
              <a:ea typeface="+mn-ea"/>
              <a:cs typeface="+mn-cs"/>
            </a:endParaRPr>
          </a:p>
        </p:txBody>
      </p:sp>
      <p:pic>
        <p:nvPicPr>
          <p:cNvPr id="14" name="Picture 13">
            <a:extLst>
              <a:ext uri="{FF2B5EF4-FFF2-40B4-BE49-F238E27FC236}">
                <a16:creationId xmlns:a16="http://schemas.microsoft.com/office/drawing/2014/main" id="{114F2C6C-F936-B100-D2EB-DF441B59400D}"/>
              </a:ext>
            </a:extLst>
          </p:cNvPr>
          <p:cNvPicPr>
            <a:picLocks noChangeAspect="1"/>
          </p:cNvPicPr>
          <p:nvPr/>
        </p:nvPicPr>
        <p:blipFill>
          <a:blip r:embed="rId3"/>
          <a:stretch>
            <a:fillRect/>
          </a:stretch>
        </p:blipFill>
        <p:spPr>
          <a:xfrm>
            <a:off x="0" y="2447396"/>
            <a:ext cx="5912154" cy="2921150"/>
          </a:xfrm>
          <a:prstGeom prst="rect">
            <a:avLst/>
          </a:prstGeom>
        </p:spPr>
      </p:pic>
      <p:pic>
        <p:nvPicPr>
          <p:cNvPr id="16" name="Picture 15">
            <a:extLst>
              <a:ext uri="{FF2B5EF4-FFF2-40B4-BE49-F238E27FC236}">
                <a16:creationId xmlns:a16="http://schemas.microsoft.com/office/drawing/2014/main" id="{573F19AA-E884-485A-2FEB-703017DABE06}"/>
              </a:ext>
            </a:extLst>
          </p:cNvPr>
          <p:cNvPicPr>
            <a:picLocks noChangeAspect="1"/>
          </p:cNvPicPr>
          <p:nvPr/>
        </p:nvPicPr>
        <p:blipFill>
          <a:blip r:embed="rId4"/>
          <a:stretch>
            <a:fillRect/>
          </a:stretch>
        </p:blipFill>
        <p:spPr>
          <a:xfrm>
            <a:off x="6096000" y="2447396"/>
            <a:ext cx="5950256" cy="3181514"/>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48985" y="365125"/>
            <a:ext cx="12094029" cy="1325563"/>
          </a:xfrm>
        </p:spPr>
        <p:txBody>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normAutofit/>
          </a:bodyPr>
          <a:lstStyle/>
          <a:p>
            <a:pPr marL="0" indent="0">
              <a:buNone/>
            </a:pPr>
            <a:r>
              <a:rPr lang="en-US" dirty="0"/>
              <a:t>Findings</a:t>
            </a:r>
          </a:p>
          <a:p>
            <a:pPr marL="0" indent="0">
              <a:buNone/>
            </a:pPr>
            <a:r>
              <a:rPr lang="en-US" dirty="0"/>
              <a:t>The current trend shows that PostgreSQL leads in open-source adoption, while the future trend indicates that MongoDB is set to dominate the NoSQL space, and AWS Aurora is the fastest-growing cloud database.</a:t>
            </a:r>
            <a:endParaRPr lang="en-US" dirty="0">
              <a:solidFill>
                <a:srgbClr val="343A4D"/>
              </a:solidFill>
              <a:latin typeface="Monaco"/>
            </a:endParaRP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normAutofit/>
          </a:bodyPr>
          <a:lstStyle/>
          <a:p>
            <a:pPr marL="0" indent="0">
              <a:buNone/>
            </a:pPr>
            <a:r>
              <a:rPr lang="en-US" dirty="0"/>
              <a:t>Implications</a:t>
            </a:r>
          </a:p>
          <a:p>
            <a:pPr marL="0" indent="0">
              <a:buNone/>
            </a:pPr>
            <a:r>
              <a:rPr lang="en-US" dirty="0"/>
              <a:t>Cost optimization through cloud databases has improved scalability with distributed systems, enhanced data security measures, and enabled easier real-time analytics capabilities.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US" sz="2200" b="0" i="0" u="none" strike="noStrike" kern="1200" cap="none" spc="0" normalizeH="0" baseline="0" noProof="0" dirty="0">
                <a:ln>
                  <a:noFill/>
                </a:ln>
                <a:solidFill>
                  <a:srgbClr val="002060"/>
                </a:solidFill>
                <a:effectLst/>
                <a:uLnTx/>
                <a:uFillTx/>
                <a:latin typeface="IBM Plex Sans" panose="020B0503050203000203" pitchFamily="34" charset="0"/>
                <a:ea typeface="+mn-ea"/>
                <a:cs typeface="+mn-cs"/>
                <a:hlinkClick r:id="rId3">
                  <a:extLst>
                    <a:ext uri="{A12FA001-AC4F-418D-AE19-62706E023703}">
                      <ahyp:hlinkClr xmlns:ahyp="http://schemas.microsoft.com/office/drawing/2018/hyperlinkcolor" val="tx"/>
                    </a:ext>
                  </a:extLst>
                </a:hlinkClick>
              </a:rPr>
              <a:t>https://github.com/GulamRasoolSiddiqui/Python-Project-for-Data-Science/blob/main/Survey%20Dashboard.pdf</a:t>
            </a:r>
            <a:endParaRPr kumimoji="0" lang="en-US" sz="2200" b="0" i="0" u="none" strike="noStrike" kern="1200" cap="none" spc="0" normalizeH="0" baseline="0" noProof="0" dirty="0">
              <a:ln>
                <a:noFill/>
              </a:ln>
              <a:solidFill>
                <a:srgbClr val="002060"/>
              </a:solidFill>
              <a:effectLst/>
              <a:uLnTx/>
              <a:uFillTx/>
              <a:latin typeface="IBM Plex Sans" panose="020B0503050203000203" pitchFamily="34" charset="0"/>
              <a:ea typeface="+mn-ea"/>
              <a:cs typeface="+mn-cs"/>
            </a:endParaRP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4"/>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DASHBOARD TAB 1</a:t>
            </a:r>
          </a:p>
        </p:txBody>
      </p:sp>
      <p:pic>
        <p:nvPicPr>
          <p:cNvPr id="10" name="Picture 9">
            <a:extLst>
              <a:ext uri="{FF2B5EF4-FFF2-40B4-BE49-F238E27FC236}">
                <a16:creationId xmlns:a16="http://schemas.microsoft.com/office/drawing/2014/main" id="{64141E3D-206A-A1D7-8C1E-00CC741DAFA0}"/>
              </a:ext>
            </a:extLst>
          </p:cNvPr>
          <p:cNvPicPr>
            <a:picLocks noChangeAspect="1"/>
          </p:cNvPicPr>
          <p:nvPr/>
        </p:nvPicPr>
        <p:blipFill>
          <a:blip r:embed="rId3"/>
          <a:stretch>
            <a:fillRect/>
          </a:stretch>
        </p:blipFill>
        <p:spPr>
          <a:xfrm>
            <a:off x="2302606" y="1600199"/>
            <a:ext cx="7815387" cy="4572000"/>
          </a:xfrm>
          <a:prstGeom prst="rect">
            <a:avLst/>
          </a:prstGeom>
          <a:noFill/>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dirty="0"/>
              <a:t>DASHBOARD TAB 2</a:t>
            </a:r>
          </a:p>
        </p:txBody>
      </p:sp>
      <p:pic>
        <p:nvPicPr>
          <p:cNvPr id="9" name="Picture 8">
            <a:extLst>
              <a:ext uri="{FF2B5EF4-FFF2-40B4-BE49-F238E27FC236}">
                <a16:creationId xmlns:a16="http://schemas.microsoft.com/office/drawing/2014/main" id="{1FA80DC0-89CF-7C91-ADA0-99D868213C10}"/>
              </a:ext>
            </a:extLst>
          </p:cNvPr>
          <p:cNvPicPr>
            <a:picLocks noChangeAspect="1"/>
          </p:cNvPicPr>
          <p:nvPr/>
        </p:nvPicPr>
        <p:blipFill>
          <a:blip r:embed="rId3"/>
          <a:stretch>
            <a:fillRect/>
          </a:stretch>
        </p:blipFill>
        <p:spPr>
          <a:xfrm>
            <a:off x="2368283" y="1600199"/>
            <a:ext cx="7684033" cy="4572000"/>
          </a:xfrm>
          <a:prstGeom prst="rect">
            <a:avLst/>
          </a:prstGeom>
          <a:noFill/>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dirty="0"/>
              <a:t>DASHBOARD TAB 3</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idx="1"/>
          </p:nvPr>
        </p:nvSpPr>
        <p:spPr>
          <a:xfrm>
            <a:off x="838200" y="1527944"/>
            <a:ext cx="10515600" cy="4737628"/>
          </a:xfrm>
        </p:spPr>
        <p:txBody>
          <a:bodyPr/>
          <a:lstStyle/>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8AF321F8-200A-3355-79B4-D3DBF0B6A7C2}"/>
              </a:ext>
            </a:extLst>
          </p:cNvPr>
          <p:cNvPicPr>
            <a:picLocks noChangeAspect="1"/>
          </p:cNvPicPr>
          <p:nvPr/>
        </p:nvPicPr>
        <p:blipFill>
          <a:blip r:embed="rId3"/>
          <a:stretch>
            <a:fillRect/>
          </a:stretch>
        </p:blipFill>
        <p:spPr>
          <a:xfrm>
            <a:off x="1912204" y="1527944"/>
            <a:ext cx="8522138" cy="4845299"/>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253331" y="1825625"/>
            <a:ext cx="4351338" cy="4351338"/>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6172200" y="1825625"/>
            <a:ext cx="5181600" cy="4351338"/>
          </a:xfrm>
        </p:spPr>
        <p:txBody>
          <a:bodyPr/>
          <a:lstStyle/>
          <a:p>
            <a:endParaRPr lang="en-US"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a:bodyPr>
          <a:lstStyle/>
          <a:p>
            <a:pPr marL="0" indent="0">
              <a:buNone/>
            </a:pPr>
            <a:r>
              <a:rPr lang="en-US" dirty="0"/>
              <a:t>Findings</a:t>
            </a:r>
          </a:p>
          <a:p>
            <a:pPr marL="0" indent="0">
              <a:buNone/>
            </a:pPr>
            <a:endParaRPr lang="en-US" dirty="0"/>
          </a:p>
          <a:p>
            <a:r>
              <a:rPr lang="en-US" dirty="0"/>
              <a:t>Most of the respondents are from the USA and aged 24 to 35 with a bachelor's or master's degree share similar interests in programming languages, as shown in the line graph.</a:t>
            </a:r>
          </a:p>
          <a:p>
            <a:endParaRPr lang="en-US" dirty="0"/>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a:bodyPr>
          <a:lstStyle/>
          <a:p>
            <a:pPr marL="0" indent="0">
              <a:buNone/>
            </a:pPr>
            <a:r>
              <a:rPr lang="en-US" dirty="0"/>
              <a:t>Implications</a:t>
            </a:r>
          </a:p>
          <a:p>
            <a:pPr marL="0" indent="0">
              <a:buNone/>
            </a:pPr>
            <a:r>
              <a:rPr lang="en-US" dirty="0"/>
              <a:t>Accelerate cloud adoption strategies with the growth of serverless computing and the expansion of SQL and NoSQL database technologies. Additionally, knowledge of programming languages and web design further drives this growth.</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Overall, it appears that respondents aged 24 to 35 with a bachelor's or master's degree share similar interests in programming languages. Further growth is expected in NoSQL, with a stronger focus on cloud-based MongoDB.</a:t>
            </a:r>
            <a:endParaRPr kumimoji="0" lang="en-US" sz="28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endParaRP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dirty="0"/>
              <a:t>APPENDIX</a:t>
            </a:r>
          </a:p>
        </p:txBody>
      </p:sp>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3625403" y="1825625"/>
            <a:ext cx="772839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4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Include any relevant additional charts, or tables that you may have created during the analysis phase.</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688809" y="1831709"/>
            <a:ext cx="3194581" cy="3194581"/>
          </a:xfrm>
          <a:prstGeom prst="rect">
            <a:avLst/>
          </a:prstGeom>
        </p:spPr>
      </p:pic>
      <p:pic>
        <p:nvPicPr>
          <p:cNvPr id="3" name="Picture 2">
            <a:extLst>
              <a:ext uri="{FF2B5EF4-FFF2-40B4-BE49-F238E27FC236}">
                <a16:creationId xmlns:a16="http://schemas.microsoft.com/office/drawing/2014/main" id="{734AEFE4-265A-A395-6CB3-ECEBDA08145F}"/>
              </a:ext>
            </a:extLst>
          </p:cNvPr>
          <p:cNvPicPr>
            <a:picLocks noChangeAspect="1"/>
          </p:cNvPicPr>
          <p:nvPr/>
        </p:nvPicPr>
        <p:blipFill>
          <a:blip r:embed="rId4"/>
          <a:stretch>
            <a:fillRect/>
          </a:stretch>
        </p:blipFill>
        <p:spPr>
          <a:xfrm>
            <a:off x="3678984" y="2482042"/>
            <a:ext cx="8150262" cy="3619686"/>
          </a:xfrm>
          <a:prstGeom prst="rect">
            <a:avLst/>
          </a:prstGeom>
        </p:spPr>
      </p:pic>
    </p:spTree>
    <p:custDataLst>
      <p:tags r:id="rId1"/>
    </p:custDataLst>
    <p:extLst>
      <p:ext uri="{BB962C8B-B14F-4D97-AF65-F5344CB8AC3E}">
        <p14:creationId xmlns:p14="http://schemas.microsoft.com/office/powerpoint/2010/main" val="186015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In Module 1 you have collected the job posting data using Job API in a file named “</a:t>
            </a:r>
            <a:r>
              <a:rPr kumimoji="0" lang="en-IN" sz="24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job-postings.xlsx</a:t>
            </a: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Present that data using a bar chart here. Order the bar chart in the descending order of the number of job postings.</a:t>
            </a:r>
          </a:p>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endParaRPr>
          </a:p>
        </p:txBody>
      </p:sp>
      <p:pic>
        <p:nvPicPr>
          <p:cNvPr id="5" name="Picture 4">
            <a:extLst>
              <a:ext uri="{FF2B5EF4-FFF2-40B4-BE49-F238E27FC236}">
                <a16:creationId xmlns:a16="http://schemas.microsoft.com/office/drawing/2014/main" id="{92BBBEE3-8F4A-1B2F-1173-AFA3F48AFC85}"/>
              </a:ext>
            </a:extLst>
          </p:cNvPr>
          <p:cNvPicPr>
            <a:picLocks noChangeAspect="1"/>
          </p:cNvPicPr>
          <p:nvPr/>
        </p:nvPicPr>
        <p:blipFill>
          <a:blip r:embed="rId3"/>
          <a:stretch>
            <a:fillRect/>
          </a:stretch>
        </p:blipFill>
        <p:spPr>
          <a:xfrm>
            <a:off x="788324" y="3127523"/>
            <a:ext cx="4883401" cy="2921150"/>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383051"/>
            <a:ext cx="5929053"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2191385"/>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In Module 1 you have collected the job postings data using web scraping in a file named “</a:t>
            </a:r>
            <a:r>
              <a:rPr kumimoji="0" lang="en-IN" sz="24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popular-languages.csv</a:t>
            </a:r>
            <a:r>
              <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rPr>
              <a:t>”. Present that data using a bar chart here. Order the bar chart in the descending order of salary.</a:t>
            </a:r>
          </a:p>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en-US" sz="2200" b="0" i="0" u="none" strike="noStrike" kern="1200" cap="none" spc="0" normalizeH="0" baseline="0" noProof="0" dirty="0">
              <a:ln>
                <a:noFill/>
              </a:ln>
              <a:solidFill>
                <a:srgbClr val="262626"/>
              </a:solidFill>
              <a:effectLst/>
              <a:uLnTx/>
              <a:uFillTx/>
              <a:latin typeface="IBM Plex Sans" panose="020B0503050203000203" pitchFamily="34" charset="0"/>
              <a:ea typeface="+mn-ea"/>
              <a:cs typeface="+mn-cs"/>
            </a:endParaRPr>
          </a:p>
        </p:txBody>
      </p:sp>
      <p:pic>
        <p:nvPicPr>
          <p:cNvPr id="3" name="Picture 2">
            <a:extLst>
              <a:ext uri="{FF2B5EF4-FFF2-40B4-BE49-F238E27FC236}">
                <a16:creationId xmlns:a16="http://schemas.microsoft.com/office/drawing/2014/main" id="{0686468A-FA9F-0379-EA8D-8E54570ADE73}"/>
              </a:ext>
            </a:extLst>
          </p:cNvPr>
          <p:cNvPicPr>
            <a:picLocks noChangeAspect="1"/>
          </p:cNvPicPr>
          <p:nvPr/>
        </p:nvPicPr>
        <p:blipFill>
          <a:blip r:embed="rId3"/>
          <a:stretch>
            <a:fillRect/>
          </a:stretch>
        </p:blipFill>
        <p:spPr>
          <a:xfrm>
            <a:off x="878305" y="3163074"/>
            <a:ext cx="4826248" cy="2940201"/>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docProps/app.xml><?xml version="1.0" encoding="utf-8"?>
<Properties xmlns="http://schemas.openxmlformats.org/officeDocument/2006/extended-properties" xmlns:vt="http://schemas.openxmlformats.org/officeDocument/2006/docPropsVTypes">
  <TotalTime>0</TotalTime>
  <Words>987</Words>
  <Application>Microsoft Office PowerPoint</Application>
  <PresentationFormat>Widescreen</PresentationFormat>
  <Paragraphs>106</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Helv</vt:lpstr>
      <vt:lpstr>IBM Plex Mono</vt:lpstr>
      <vt:lpstr>IBM Plex Mono Text</vt:lpstr>
      <vt:lpstr>IBM Plex Sans</vt:lpstr>
      <vt:lpstr>IBM Plex Sans SemiBold</vt:lpstr>
      <vt:lpstr>Monaco</vt:lpstr>
      <vt:lpstr>SLIDE_TEMPLATE_skill_network</vt:lpstr>
      <vt:lpstr>Survey Data Analysis  </vt:lpstr>
      <vt:lpstr>PowerPoint Presentation</vt:lpstr>
      <vt:lpstr>EXECUTIVE SUMMARY</vt:lpstr>
      <vt:lpstr>INTRODUCTION</vt:lpstr>
      <vt:lpstr>METHODOLOGY</vt:lpstr>
      <vt:lpstr>RESULTS</vt:lpstr>
      <vt:lpstr>PROGRAMMING LANGUAGE TRENDS</vt:lpstr>
      <vt:lpstr>PROGRAMMING LANGUAGE TRENDS - FINDINGS &amp; IMPLICATIONS</vt:lpstr>
      <vt:lpstr>DATABASE TRENDS</vt:lpstr>
      <vt:lpstr>DATABASE TRENDS - FINDINGS &amp; IMPLICATIONS</vt:lpstr>
      <vt:lpstr>DASHBOARD</vt:lpstr>
      <vt:lpstr>DASHBOARD TAB 1</vt:lpstr>
      <vt:lpstr>DASHBOARD TAB 2</vt:lpstr>
      <vt:lpstr>DASHBOARD TAB 3</vt:lpstr>
      <vt:lpstr>DISCUSSION</vt:lpstr>
      <vt:lpstr>OVERALL FINDINGS &amp; IMPLICATIONS</vt:lpstr>
      <vt:lpstr>CONCLUSION</vt:lpstr>
      <vt:lpstr>APPENDIX</vt:lpstr>
      <vt:lpstr> JOB POSTINGS</vt:lpstr>
      <vt:lpstr>POPULAR LANGUAGES</vt:lpstr>
    </vt:vector>
  </TitlesOfParts>
  <Company>Idorsia Pharmaceuticals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Gulam Siddiqui</dc:creator>
  <cp:lastModifiedBy>Gulam Siddiqui</cp:lastModifiedBy>
  <cp:revision>3</cp:revision>
  <dcterms:created xsi:type="dcterms:W3CDTF">2025-01-03T01:43:44Z</dcterms:created>
  <dcterms:modified xsi:type="dcterms:W3CDTF">2025-01-05T01:32:28Z</dcterms:modified>
</cp:coreProperties>
</file>